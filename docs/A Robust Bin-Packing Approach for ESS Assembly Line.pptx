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5" r:id="rId7"/>
    <p:sldId id="261" r:id="rId8"/>
    <p:sldId id="260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FF2FB"/>
    <a:srgbClr val="F4F5FA"/>
    <a:srgbClr val="E9EEF7"/>
    <a:srgbClr val="F2E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81" autoAdjust="0"/>
    <p:restoredTop sz="94660"/>
  </p:normalViewPr>
  <p:slideViewPr>
    <p:cSldViewPr snapToGrid="0">
      <p:cViewPr>
        <p:scale>
          <a:sx n="100" d="100"/>
          <a:sy n="100" d="100"/>
        </p:scale>
        <p:origin x="80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9C8A5-8ADA-5614-B901-D1766B1E8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C5CB0F-F477-0D1F-2BDF-FE6D3AA60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9A9EA-BF8A-6CF4-B904-30CD981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5E95D4-9BFA-302A-CF3A-E9B78D595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9234B5-DD4F-A841-0425-84B9FDEE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1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53BC-B814-306B-85A7-CEAE2BED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E0FA6D-475E-B406-11C1-F35BEDF8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CDA99-CAFF-8C5F-F687-6AA749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AE299-A987-8EEF-C2F5-34C1152EC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3D58A8-A59C-E3D7-2CCA-C680692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488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585BC-CCA2-6A8B-D2A7-FB53C7E3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2C5B72-687A-1A30-3B26-067C0387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877B0C-BB00-443C-9390-61423A72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8EE66-6BED-BDD5-DD8D-F1F3720F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85CEF-A81A-973A-BCDF-F69916F5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0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FC673-DDD2-16EA-93C3-A4420F74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1B1454-03A8-B151-4D1A-BB4D71805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AE36D6-792F-EDD8-D3E6-6974E2BC8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E9D4B5-CB90-7024-E501-B3717DA4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34F41C-4FF8-8CA9-B139-1BFEBFFA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08EC7E-8A8C-E7D2-294E-515A2900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12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54860-A37E-62C1-D0AC-5EEB2B00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42011E-B287-27BD-2BDB-EB4521AC0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9EE859-F366-A8A0-8691-0BCA6F232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DFB826-92CB-D759-1153-7BD51700A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889AC8-BD1A-1FDB-6079-B90EC97C9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8C32C9-F102-85C2-C4D6-2F9FEFA3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790698-8612-23D9-7152-1F7A7A02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6F2E37-2D69-73C4-8830-DFAD7817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9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D7381-DC4E-0973-CBA2-04E64AA8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A80217-E070-BD4F-7501-C0665B71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ADD697-C6C7-E3D2-0111-1FF264E4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F57A56-7BF9-84BF-1F3A-68EA3F22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67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12B60-61A7-5FBD-DB9A-AD615BD1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E4C5C0-C55D-22E8-4D77-98D1415A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F0CB2E-8DB9-6448-9DEA-AA74319B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64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BBEC3-EC37-B146-D2D0-A215FC00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3143C3-F3AB-BDE4-A4E6-4DF8241F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8BFBFA-2AF0-A938-258A-C42D0599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99F944-8EA1-A1CA-0EA1-BE8124D9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F4705-E4DF-E09A-07F6-E94847032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14E9A4-869B-9405-C37D-CB7D6BDA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62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1BCE3-1993-91EC-B79F-25900274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4D6CE3-E022-C5AC-9DD6-77AA1F2AF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F3B9DD-740E-93A3-0203-61C5DAA3A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D0B573-8345-3E78-59B4-FE14D3D5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4B959A-8BD5-679F-5E44-B873ED66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92B981-03A5-FC43-6C0E-1E8D45E9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34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1AA64-009E-8B4A-9A8B-5C887631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06E5AF-404C-9196-2014-03FD88305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5DD4A-1EC0-CCF2-A3F6-8FF99F70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92BC2-D7C3-3F38-5993-F75A2E02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B9989-99E0-CD3A-9598-5EF58074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5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D4C544-6DEB-4B13-6E1C-E59EFA844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D13F57-B6DC-3082-A969-4F2F82A5D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85EB9-4A02-D5D4-3237-AF7B9468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CF53B-38C3-8A1D-1F58-6E3E7931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EA6EA-7D2D-880B-3877-9DA60993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6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086F2D-4775-3695-7073-78BF669B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363EF-79E5-303B-302B-76DCBE82F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A1225-2829-4536-31A5-59BDDDF2F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7F04E-3337-4588-AC6C-D54F74DBFE3D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B26FB-3712-140A-1FF2-9A8C484AD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26857-F39A-A41F-E3BC-9F63B9F43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4C87C-76C7-45A3-BB2E-B9DDC28F2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0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5.svg"/><Relationship Id="rId5" Type="http://schemas.openxmlformats.org/officeDocument/2006/relationships/image" Target="../media/image7.sv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8.png"/><Relationship Id="rId5" Type="http://schemas.openxmlformats.org/officeDocument/2006/relationships/image" Target="../media/image18.png"/><Relationship Id="rId10" Type="http://schemas.openxmlformats.org/officeDocument/2006/relationships/image" Target="../media/image11.svg"/><Relationship Id="rId4" Type="http://schemas.openxmlformats.org/officeDocument/2006/relationships/image" Target="../media/image17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3.png"/><Relationship Id="rId21" Type="http://schemas.openxmlformats.org/officeDocument/2006/relationships/image" Target="../media/image43.svg"/><Relationship Id="rId7" Type="http://schemas.openxmlformats.org/officeDocument/2006/relationships/image" Target="../media/image27.svg"/><Relationship Id="rId12" Type="http://schemas.openxmlformats.org/officeDocument/2006/relationships/image" Target="../media/image34.png"/><Relationship Id="rId17" Type="http://schemas.openxmlformats.org/officeDocument/2006/relationships/image" Target="../media/image39.svg"/><Relationship Id="rId25" Type="http://schemas.openxmlformats.org/officeDocument/2006/relationships/image" Target="../media/image47.svg"/><Relationship Id="rId2" Type="http://schemas.openxmlformats.org/officeDocument/2006/relationships/image" Target="../media/image22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3.svg"/><Relationship Id="rId24" Type="http://schemas.openxmlformats.org/officeDocument/2006/relationships/image" Target="../media/image46.png"/><Relationship Id="rId32" Type="http://schemas.openxmlformats.org/officeDocument/2006/relationships/image" Target="../media/image54.svg"/><Relationship Id="rId5" Type="http://schemas.openxmlformats.org/officeDocument/2006/relationships/image" Target="../media/image25.png"/><Relationship Id="rId15" Type="http://schemas.openxmlformats.org/officeDocument/2006/relationships/image" Target="../media/image37.svg"/><Relationship Id="rId23" Type="http://schemas.openxmlformats.org/officeDocument/2006/relationships/image" Target="../media/image45.sv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svg"/><Relationship Id="rId31" Type="http://schemas.openxmlformats.org/officeDocument/2006/relationships/image" Target="../media/image53.png"/><Relationship Id="rId4" Type="http://schemas.openxmlformats.org/officeDocument/2006/relationships/image" Target="../media/image24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6988B-2FF2-D40B-54C4-E4C97CE7E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861551"/>
            <a:ext cx="9539037" cy="1134898"/>
          </a:xfrm>
        </p:spPr>
        <p:txBody>
          <a:bodyPr>
            <a:normAutofit fontScale="90000"/>
          </a:bodyPr>
          <a:lstStyle/>
          <a:p>
            <a:pPr defTabSz="912813" eaLnBrk="0" fontAlgn="base" latinLnBrk="1" hangingPunct="0">
              <a:lnSpc>
                <a:spcPct val="130000"/>
              </a:lnSpc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 Robust Bin-Packing Approach for ESS Assembly Line Scheduling under Human-Machine Uncertainty</a:t>
            </a:r>
            <a:endParaRPr kumimoji="1" lang="zh-CN" altLang="en-US" sz="28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05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B31E903C-6825-AEB2-32CF-CC4FACA2ADFD}"/>
              </a:ext>
            </a:extLst>
          </p:cNvPr>
          <p:cNvSpPr/>
          <p:nvPr/>
        </p:nvSpPr>
        <p:spPr>
          <a:xfrm>
            <a:off x="378715" y="965646"/>
            <a:ext cx="11434570" cy="5197029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FB4B8-9E22-76A4-FC68-E19D989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4526280" cy="419847"/>
          </a:xfrm>
        </p:spPr>
        <p:txBody>
          <a:bodyPr>
            <a:normAutofit fontScale="90000"/>
          </a:bodyPr>
          <a:lstStyle/>
          <a:p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Problem Context &amp; Motivation</a:t>
            </a:r>
            <a:endParaRPr kumimoji="1" lang="zh-CN" altLang="en-US" sz="25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859F747-6AF1-4601-2294-DB0E7321B956}"/>
              </a:ext>
            </a:extLst>
          </p:cNvPr>
          <p:cNvSpPr/>
          <p:nvPr/>
        </p:nvSpPr>
        <p:spPr>
          <a:xfrm>
            <a:off x="1595713" y="1386320"/>
            <a:ext cx="2472840" cy="2851211"/>
          </a:xfrm>
          <a:prstGeom prst="roundRect">
            <a:avLst>
              <a:gd name="adj" fmla="val 6848"/>
            </a:avLst>
          </a:prstGeom>
          <a:gradFill>
            <a:gsLst>
              <a:gs pos="100000">
                <a:schemeClr val="bg1"/>
              </a:gs>
              <a:gs pos="0">
                <a:schemeClr val="tx2">
                  <a:lumMod val="10000"/>
                  <a:lumOff val="90000"/>
                </a:schemeClr>
              </a:gs>
              <a:gs pos="8000">
                <a:schemeClr val="tx2">
                  <a:lumMod val="10000"/>
                  <a:lumOff val="90000"/>
                </a:schemeClr>
              </a:gs>
              <a:gs pos="39000">
                <a:schemeClr val="bg1"/>
              </a:gs>
            </a:gsLst>
            <a:lin ang="5400000" scaled="1"/>
          </a:gra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833C9975-FDFF-93DE-F0D1-291F34AA23B3}"/>
              </a:ext>
            </a:extLst>
          </p:cNvPr>
          <p:cNvSpPr/>
          <p:nvPr/>
        </p:nvSpPr>
        <p:spPr>
          <a:xfrm>
            <a:off x="582678" y="2721638"/>
            <a:ext cx="934679" cy="35596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FCBA2DD-F529-5C91-597C-6FD66A4EE111}"/>
              </a:ext>
            </a:extLst>
          </p:cNvPr>
          <p:cNvSpPr txBox="1"/>
          <p:nvPr/>
        </p:nvSpPr>
        <p:spPr>
          <a:xfrm>
            <a:off x="582678" y="3056087"/>
            <a:ext cx="9346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(Upstream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0B0A122-8888-B928-0A9F-33D70219668C}"/>
              </a:ext>
            </a:extLst>
          </p:cNvPr>
          <p:cNvSpPr txBox="1"/>
          <p:nvPr/>
        </p:nvSpPr>
        <p:spPr>
          <a:xfrm>
            <a:off x="1589885" y="1702611"/>
            <a:ext cx="2478668" cy="59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Busbar Assembly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EAE1412C-E328-4571-342D-AF08F2F3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691" y="2589553"/>
            <a:ext cx="1730883" cy="1404937"/>
          </a:xfrm>
          <a:prstGeom prst="roundRect">
            <a:avLst/>
          </a:prstGeom>
        </p:spPr>
      </p:pic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C4448619-5D24-33E4-F040-F0650B86C805}"/>
              </a:ext>
            </a:extLst>
          </p:cNvPr>
          <p:cNvSpPr/>
          <p:nvPr/>
        </p:nvSpPr>
        <p:spPr>
          <a:xfrm>
            <a:off x="2219619" y="1261994"/>
            <a:ext cx="1219200" cy="3156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Station A</a:t>
            </a:r>
            <a:endParaRPr lang="zh-CN" altLang="en-US" b="1" dirty="0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8C0B9B5-F71F-C42C-CDD0-2A58DD75B4C8}"/>
              </a:ext>
            </a:extLst>
          </p:cNvPr>
          <p:cNvSpPr/>
          <p:nvPr/>
        </p:nvSpPr>
        <p:spPr>
          <a:xfrm>
            <a:off x="4852339" y="1386320"/>
            <a:ext cx="2472840" cy="2851211"/>
          </a:xfrm>
          <a:prstGeom prst="roundRect">
            <a:avLst>
              <a:gd name="adj" fmla="val 6848"/>
            </a:avLst>
          </a:prstGeom>
          <a:gradFill>
            <a:gsLst>
              <a:gs pos="100000">
                <a:schemeClr val="bg1"/>
              </a:gs>
              <a:gs pos="0">
                <a:schemeClr val="accent2">
                  <a:lumMod val="20000"/>
                  <a:lumOff val="80000"/>
                </a:schemeClr>
              </a:gs>
              <a:gs pos="8000">
                <a:schemeClr val="accent2">
                  <a:lumMod val="20000"/>
                  <a:lumOff val="80000"/>
                </a:schemeClr>
              </a:gs>
              <a:gs pos="39000">
                <a:schemeClr val="bg1"/>
              </a:gs>
            </a:gsLst>
            <a:lin ang="5400000" scaled="1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箭头: 右 67">
            <a:extLst>
              <a:ext uri="{FF2B5EF4-FFF2-40B4-BE49-F238E27FC236}">
                <a16:creationId xmlns:a16="http://schemas.microsoft.com/office/drawing/2014/main" id="{AD4E2A8B-F700-7A68-C1C4-F283B35EC330}"/>
              </a:ext>
            </a:extLst>
          </p:cNvPr>
          <p:cNvSpPr/>
          <p:nvPr/>
        </p:nvSpPr>
        <p:spPr>
          <a:xfrm>
            <a:off x="3957189" y="2767640"/>
            <a:ext cx="731396" cy="30996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D4D5E73-8B33-446D-1181-D7F250981921}"/>
              </a:ext>
            </a:extLst>
          </p:cNvPr>
          <p:cNvSpPr txBox="1"/>
          <p:nvPr/>
        </p:nvSpPr>
        <p:spPr>
          <a:xfrm>
            <a:off x="4853775" y="1722787"/>
            <a:ext cx="2478668" cy="59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Harness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 &amp; Riveting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4BB3C2ED-E013-4F3B-EC9B-F3E2AADFCB02}"/>
              </a:ext>
            </a:extLst>
          </p:cNvPr>
          <p:cNvSpPr/>
          <p:nvPr/>
        </p:nvSpPr>
        <p:spPr>
          <a:xfrm>
            <a:off x="5476245" y="1261994"/>
            <a:ext cx="1219200" cy="3156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Station B</a:t>
            </a:r>
            <a:endParaRPr lang="zh-CN" altLang="en-US" b="1" dirty="0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91622702-EE90-05E8-6208-3AD9C0FCF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552" y="2553495"/>
            <a:ext cx="1742585" cy="1328721"/>
          </a:xfrm>
          <a:prstGeom prst="roundRect">
            <a:avLst/>
          </a:prstGeom>
        </p:spPr>
      </p:pic>
      <p:sp>
        <p:nvSpPr>
          <p:cNvPr id="78" name="箭头: 右 77">
            <a:extLst>
              <a:ext uri="{FF2B5EF4-FFF2-40B4-BE49-F238E27FC236}">
                <a16:creationId xmlns:a16="http://schemas.microsoft.com/office/drawing/2014/main" id="{4CCA0FB6-AA9C-1A8B-C1AA-96399CEB5481}"/>
              </a:ext>
            </a:extLst>
          </p:cNvPr>
          <p:cNvSpPr/>
          <p:nvPr/>
        </p:nvSpPr>
        <p:spPr>
          <a:xfrm>
            <a:off x="7123235" y="2797955"/>
            <a:ext cx="731396" cy="30996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5300079C-2980-8B0F-502A-9A1B4B9B0D8F}"/>
              </a:ext>
            </a:extLst>
          </p:cNvPr>
          <p:cNvSpPr/>
          <p:nvPr/>
        </p:nvSpPr>
        <p:spPr>
          <a:xfrm>
            <a:off x="8020729" y="1261995"/>
            <a:ext cx="1820880" cy="3199270"/>
          </a:xfrm>
          <a:custGeom>
            <a:avLst/>
            <a:gdLst>
              <a:gd name="connsiteX0" fmla="*/ 0 w 1820880"/>
              <a:gd name="connsiteY0" fmla="*/ 124694 h 3199270"/>
              <a:gd name="connsiteX1" fmla="*/ 124694 w 1820880"/>
              <a:gd name="connsiteY1" fmla="*/ 0 h 3199270"/>
              <a:gd name="connsiteX2" fmla="*/ 679955 w 1820880"/>
              <a:gd name="connsiteY2" fmla="*/ 0 h 3199270"/>
              <a:gd name="connsiteX3" fmla="*/ 1188070 w 1820880"/>
              <a:gd name="connsiteY3" fmla="*/ 0 h 3199270"/>
              <a:gd name="connsiteX4" fmla="*/ 1696186 w 1820880"/>
              <a:gd name="connsiteY4" fmla="*/ 0 h 3199270"/>
              <a:gd name="connsiteX5" fmla="*/ 1820880 w 1820880"/>
              <a:gd name="connsiteY5" fmla="*/ 124694 h 3199270"/>
              <a:gd name="connsiteX6" fmla="*/ 1820880 w 1820880"/>
              <a:gd name="connsiteY6" fmla="*/ 655673 h 3199270"/>
              <a:gd name="connsiteX7" fmla="*/ 1820880 w 1820880"/>
              <a:gd name="connsiteY7" fmla="*/ 1186652 h 3199270"/>
              <a:gd name="connsiteX8" fmla="*/ 1820880 w 1820880"/>
              <a:gd name="connsiteY8" fmla="*/ 1835626 h 3199270"/>
              <a:gd name="connsiteX9" fmla="*/ 1820880 w 1820880"/>
              <a:gd name="connsiteY9" fmla="*/ 2337106 h 3199270"/>
              <a:gd name="connsiteX10" fmla="*/ 1820880 w 1820880"/>
              <a:gd name="connsiteY10" fmla="*/ 3074576 h 3199270"/>
              <a:gd name="connsiteX11" fmla="*/ 1696186 w 1820880"/>
              <a:gd name="connsiteY11" fmla="*/ 3199270 h 3199270"/>
              <a:gd name="connsiteX12" fmla="*/ 1219500 w 1820880"/>
              <a:gd name="connsiteY12" fmla="*/ 3199270 h 3199270"/>
              <a:gd name="connsiteX13" fmla="*/ 664240 w 1820880"/>
              <a:gd name="connsiteY13" fmla="*/ 3199270 h 3199270"/>
              <a:gd name="connsiteX14" fmla="*/ 124694 w 1820880"/>
              <a:gd name="connsiteY14" fmla="*/ 3199270 h 3199270"/>
              <a:gd name="connsiteX15" fmla="*/ 0 w 1820880"/>
              <a:gd name="connsiteY15" fmla="*/ 3074576 h 3199270"/>
              <a:gd name="connsiteX16" fmla="*/ 0 w 1820880"/>
              <a:gd name="connsiteY16" fmla="*/ 2455101 h 3199270"/>
              <a:gd name="connsiteX17" fmla="*/ 0 w 1820880"/>
              <a:gd name="connsiteY17" fmla="*/ 1953621 h 3199270"/>
              <a:gd name="connsiteX18" fmla="*/ 0 w 1820880"/>
              <a:gd name="connsiteY18" fmla="*/ 1422642 h 3199270"/>
              <a:gd name="connsiteX19" fmla="*/ 0 w 1820880"/>
              <a:gd name="connsiteY19" fmla="*/ 773668 h 3199270"/>
              <a:gd name="connsiteX20" fmla="*/ 0 w 1820880"/>
              <a:gd name="connsiteY20" fmla="*/ 124694 h 319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820880" h="3199270" extrusionOk="0">
                <a:moveTo>
                  <a:pt x="0" y="124694"/>
                </a:moveTo>
                <a:cubicBezTo>
                  <a:pt x="-12514" y="48108"/>
                  <a:pt x="54159" y="626"/>
                  <a:pt x="124694" y="0"/>
                </a:cubicBezTo>
                <a:cubicBezTo>
                  <a:pt x="352899" y="-38438"/>
                  <a:pt x="491485" y="22238"/>
                  <a:pt x="679955" y="0"/>
                </a:cubicBezTo>
                <a:cubicBezTo>
                  <a:pt x="868425" y="-22238"/>
                  <a:pt x="1003413" y="19051"/>
                  <a:pt x="1188070" y="0"/>
                </a:cubicBezTo>
                <a:cubicBezTo>
                  <a:pt x="1372727" y="-19051"/>
                  <a:pt x="1461435" y="17825"/>
                  <a:pt x="1696186" y="0"/>
                </a:cubicBezTo>
                <a:cubicBezTo>
                  <a:pt x="1760591" y="-14373"/>
                  <a:pt x="1824206" y="43519"/>
                  <a:pt x="1820880" y="124694"/>
                </a:cubicBezTo>
                <a:cubicBezTo>
                  <a:pt x="1883623" y="274403"/>
                  <a:pt x="1813139" y="459486"/>
                  <a:pt x="1820880" y="655673"/>
                </a:cubicBezTo>
                <a:cubicBezTo>
                  <a:pt x="1828621" y="851860"/>
                  <a:pt x="1776945" y="924434"/>
                  <a:pt x="1820880" y="1186652"/>
                </a:cubicBezTo>
                <a:cubicBezTo>
                  <a:pt x="1864815" y="1448870"/>
                  <a:pt x="1809786" y="1666502"/>
                  <a:pt x="1820880" y="1835626"/>
                </a:cubicBezTo>
                <a:cubicBezTo>
                  <a:pt x="1831974" y="2004750"/>
                  <a:pt x="1792539" y="2205612"/>
                  <a:pt x="1820880" y="2337106"/>
                </a:cubicBezTo>
                <a:cubicBezTo>
                  <a:pt x="1849221" y="2468600"/>
                  <a:pt x="1757169" y="2863944"/>
                  <a:pt x="1820880" y="3074576"/>
                </a:cubicBezTo>
                <a:cubicBezTo>
                  <a:pt x="1827179" y="3152820"/>
                  <a:pt x="1766638" y="3215689"/>
                  <a:pt x="1696186" y="3199270"/>
                </a:cubicBezTo>
                <a:cubicBezTo>
                  <a:pt x="1511507" y="3240929"/>
                  <a:pt x="1322095" y="3160922"/>
                  <a:pt x="1219500" y="3199270"/>
                </a:cubicBezTo>
                <a:cubicBezTo>
                  <a:pt x="1116905" y="3237618"/>
                  <a:pt x="807648" y="3173220"/>
                  <a:pt x="664240" y="3199270"/>
                </a:cubicBezTo>
                <a:cubicBezTo>
                  <a:pt x="520832" y="3225320"/>
                  <a:pt x="376192" y="3179285"/>
                  <a:pt x="124694" y="3199270"/>
                </a:cubicBezTo>
                <a:cubicBezTo>
                  <a:pt x="53975" y="3197525"/>
                  <a:pt x="-10831" y="3127253"/>
                  <a:pt x="0" y="3074576"/>
                </a:cubicBezTo>
                <a:cubicBezTo>
                  <a:pt x="-64512" y="2782364"/>
                  <a:pt x="2388" y="2659784"/>
                  <a:pt x="0" y="2455101"/>
                </a:cubicBezTo>
                <a:cubicBezTo>
                  <a:pt x="-2388" y="2250418"/>
                  <a:pt x="38424" y="2160370"/>
                  <a:pt x="0" y="1953621"/>
                </a:cubicBezTo>
                <a:cubicBezTo>
                  <a:pt x="-38424" y="1746872"/>
                  <a:pt x="1551" y="1537972"/>
                  <a:pt x="0" y="1422642"/>
                </a:cubicBezTo>
                <a:cubicBezTo>
                  <a:pt x="-1551" y="1307312"/>
                  <a:pt x="52290" y="1074697"/>
                  <a:pt x="0" y="773668"/>
                </a:cubicBezTo>
                <a:cubicBezTo>
                  <a:pt x="-52290" y="472639"/>
                  <a:pt x="39635" y="449081"/>
                  <a:pt x="0" y="124694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84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7D3FB3E-837D-2866-C7A2-D248524F1F41}"/>
              </a:ext>
            </a:extLst>
          </p:cNvPr>
          <p:cNvSpPr txBox="1"/>
          <p:nvPr/>
        </p:nvSpPr>
        <p:spPr>
          <a:xfrm>
            <a:off x="7691835" y="1722787"/>
            <a:ext cx="2478668" cy="199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Welding, 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Inspection,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Testing, etc.)</a:t>
            </a:r>
          </a:p>
        </p:txBody>
      </p:sp>
      <p:sp>
        <p:nvSpPr>
          <p:cNvPr id="100" name="箭头: 右 99">
            <a:extLst>
              <a:ext uri="{FF2B5EF4-FFF2-40B4-BE49-F238E27FC236}">
                <a16:creationId xmlns:a16="http://schemas.microsoft.com/office/drawing/2014/main" id="{A2C104AE-93FA-9983-194C-A3AF38E1F2C6}"/>
              </a:ext>
            </a:extLst>
          </p:cNvPr>
          <p:cNvSpPr/>
          <p:nvPr/>
        </p:nvSpPr>
        <p:spPr>
          <a:xfrm>
            <a:off x="9768001" y="2811925"/>
            <a:ext cx="402502" cy="309961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8F42C569-C342-7BFC-A388-9B54EA0D4E79}"/>
              </a:ext>
            </a:extLst>
          </p:cNvPr>
          <p:cNvSpPr/>
          <p:nvPr/>
        </p:nvSpPr>
        <p:spPr>
          <a:xfrm>
            <a:off x="10355293" y="2355092"/>
            <a:ext cx="1321939" cy="2109377"/>
          </a:xfrm>
          <a:prstGeom prst="roundRect">
            <a:avLst>
              <a:gd name="adj" fmla="val 6848"/>
            </a:avLst>
          </a:prstGeom>
          <a:gradFill>
            <a:gsLst>
              <a:gs pos="100000">
                <a:schemeClr val="bg1"/>
              </a:gs>
              <a:gs pos="0">
                <a:schemeClr val="accent6">
                  <a:lumMod val="20000"/>
                  <a:lumOff val="80000"/>
                </a:schemeClr>
              </a:gs>
              <a:gs pos="8000">
                <a:schemeClr val="accent6">
                  <a:lumMod val="20000"/>
                  <a:lumOff val="80000"/>
                </a:schemeClr>
              </a:gs>
              <a:gs pos="39000">
                <a:schemeClr val="bg1"/>
              </a:gs>
            </a:gsLst>
            <a:lin ang="5400000" scaled="1"/>
          </a:gra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95D2C3D7-02B7-8F13-3D2F-C852D07CD241}"/>
              </a:ext>
            </a:extLst>
          </p:cNvPr>
          <p:cNvSpPr/>
          <p:nvPr/>
        </p:nvSpPr>
        <p:spPr>
          <a:xfrm>
            <a:off x="10529895" y="2406004"/>
            <a:ext cx="977997" cy="31563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Output</a:t>
            </a:r>
            <a:endParaRPr lang="zh-CN" altLang="en-US" b="1" dirty="0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CF755F44-611D-305A-A2A3-CBC8968BC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459" y="3425419"/>
            <a:ext cx="1225606" cy="780456"/>
          </a:xfrm>
          <a:prstGeom prst="rect">
            <a:avLst/>
          </a:prstGeom>
        </p:spPr>
      </p:pic>
      <p:sp>
        <p:nvSpPr>
          <p:cNvPr id="115" name="文本框 114">
            <a:extLst>
              <a:ext uri="{FF2B5EF4-FFF2-40B4-BE49-F238E27FC236}">
                <a16:creationId xmlns:a16="http://schemas.microsoft.com/office/drawing/2014/main" id="{0B18D1BD-A63E-24A3-6DB5-7FC881D2CF53}"/>
              </a:ext>
            </a:extLst>
          </p:cNvPr>
          <p:cNvSpPr txBox="1"/>
          <p:nvPr/>
        </p:nvSpPr>
        <p:spPr>
          <a:xfrm>
            <a:off x="10336601" y="2719948"/>
            <a:ext cx="1406664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Completed</a:t>
            </a:r>
          </a:p>
          <a:p>
            <a:pPr algn="ctr">
              <a:lnSpc>
                <a:spcPct val="150000"/>
              </a:lnSpc>
            </a:pPr>
            <a:r>
              <a:rPr lang="en-US" altLang="zh-C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 Product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9020262-E83C-68AD-06A4-DC31694AE5A9}"/>
              </a:ext>
            </a:extLst>
          </p:cNvPr>
          <p:cNvSpPr/>
          <p:nvPr/>
        </p:nvSpPr>
        <p:spPr>
          <a:xfrm>
            <a:off x="6254776" y="4069594"/>
            <a:ext cx="525095" cy="494559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图形 80">
            <a:extLst>
              <a:ext uri="{FF2B5EF4-FFF2-40B4-BE49-F238E27FC236}">
                <a16:creationId xmlns:a16="http://schemas.microsoft.com/office/drawing/2014/main" id="{5D13FB38-03FD-DE42-F057-273E45975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8273" y="4149240"/>
            <a:ext cx="298102" cy="298102"/>
          </a:xfrm>
          <a:prstGeom prst="rect">
            <a:avLst/>
          </a:prstGeom>
        </p:spPr>
      </p:pic>
      <p:sp>
        <p:nvSpPr>
          <p:cNvPr id="83" name="椭圆 82">
            <a:extLst>
              <a:ext uri="{FF2B5EF4-FFF2-40B4-BE49-F238E27FC236}">
                <a16:creationId xmlns:a16="http://schemas.microsoft.com/office/drawing/2014/main" id="{0D0205F1-6198-C453-5087-7FA78F87C797}"/>
              </a:ext>
            </a:extLst>
          </p:cNvPr>
          <p:cNvSpPr/>
          <p:nvPr/>
        </p:nvSpPr>
        <p:spPr>
          <a:xfrm>
            <a:off x="5345601" y="4079439"/>
            <a:ext cx="525095" cy="49455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5" name="图形 84">
            <a:extLst>
              <a:ext uri="{FF2B5EF4-FFF2-40B4-BE49-F238E27FC236}">
                <a16:creationId xmlns:a16="http://schemas.microsoft.com/office/drawing/2014/main" id="{7DDBD793-9DA8-5A9E-56D7-498ECB4D7A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5624" y="4174923"/>
            <a:ext cx="303589" cy="303589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8731DAFD-54E8-2A8C-C5A3-3CAEB348CB54}"/>
              </a:ext>
            </a:extLst>
          </p:cNvPr>
          <p:cNvSpPr txBox="1"/>
          <p:nvPr/>
        </p:nvSpPr>
        <p:spPr>
          <a:xfrm>
            <a:off x="5272293" y="4559320"/>
            <a:ext cx="712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A03854B-171F-3640-C8D0-9E66BA17D298}"/>
              </a:ext>
            </a:extLst>
          </p:cNvPr>
          <p:cNvSpPr txBox="1"/>
          <p:nvPr/>
        </p:nvSpPr>
        <p:spPr>
          <a:xfrm>
            <a:off x="6175961" y="4559289"/>
            <a:ext cx="712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Novice</a:t>
            </a:r>
            <a:endParaRPr lang="zh-CN" altLang="en-US" sz="1400" dirty="0"/>
          </a:p>
        </p:txBody>
      </p:sp>
      <p:sp>
        <p:nvSpPr>
          <p:cNvPr id="91" name="右大括号 90">
            <a:extLst>
              <a:ext uri="{FF2B5EF4-FFF2-40B4-BE49-F238E27FC236}">
                <a16:creationId xmlns:a16="http://schemas.microsoft.com/office/drawing/2014/main" id="{B40EB025-6B4E-14E3-5ABA-AC2BD8BFD65E}"/>
              </a:ext>
            </a:extLst>
          </p:cNvPr>
          <p:cNvSpPr/>
          <p:nvPr/>
        </p:nvSpPr>
        <p:spPr>
          <a:xfrm rot="5400000">
            <a:off x="5913500" y="4171803"/>
            <a:ext cx="307411" cy="1642499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E2CFBAE-A830-F5B6-CFC1-470B6115E6BA}"/>
              </a:ext>
            </a:extLst>
          </p:cNvPr>
          <p:cNvSpPr txBox="1"/>
          <p:nvPr/>
        </p:nvSpPr>
        <p:spPr>
          <a:xfrm>
            <a:off x="5242342" y="5171845"/>
            <a:ext cx="1584547" cy="5788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 Speed Gap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workers</a:t>
            </a: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21E83308-91DF-6ECE-5173-4D5B9A227344}"/>
              </a:ext>
            </a:extLst>
          </p:cNvPr>
          <p:cNvSpPr/>
          <p:nvPr/>
        </p:nvSpPr>
        <p:spPr>
          <a:xfrm>
            <a:off x="2539533" y="4079439"/>
            <a:ext cx="525095" cy="494559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8" name="图形 117">
            <a:extLst>
              <a:ext uri="{FF2B5EF4-FFF2-40B4-BE49-F238E27FC236}">
                <a16:creationId xmlns:a16="http://schemas.microsoft.com/office/drawing/2014/main" id="{E40B9B44-1C3F-0E27-8E2C-0295710BFE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5565" y="4136587"/>
            <a:ext cx="380260" cy="380260"/>
          </a:xfrm>
          <a:prstGeom prst="rect">
            <a:avLst/>
          </a:prstGeom>
        </p:spPr>
      </p:pic>
      <p:sp>
        <p:nvSpPr>
          <p:cNvPr id="119" name="文本框 118">
            <a:extLst>
              <a:ext uri="{FF2B5EF4-FFF2-40B4-BE49-F238E27FC236}">
                <a16:creationId xmlns:a16="http://schemas.microsoft.com/office/drawing/2014/main" id="{B68C4BFA-3837-A170-F2AC-F9022A5F2875}"/>
              </a:ext>
            </a:extLst>
          </p:cNvPr>
          <p:cNvSpPr txBox="1"/>
          <p:nvPr/>
        </p:nvSpPr>
        <p:spPr>
          <a:xfrm>
            <a:off x="1140883" y="5162589"/>
            <a:ext cx="3322394" cy="578882"/>
          </a:xfrm>
          <a:prstGeom prst="roundRec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 micro-stops 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month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minutes 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downtime per occurrence</a:t>
            </a:r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937087C1-19CC-9729-925E-24E004F4FB05}"/>
              </a:ext>
            </a:extLst>
          </p:cNvPr>
          <p:cNvCxnSpPr>
            <a:stCxn id="116" idx="4"/>
          </p:cNvCxnSpPr>
          <p:nvPr/>
        </p:nvCxnSpPr>
        <p:spPr>
          <a:xfrm flipH="1">
            <a:off x="2802080" y="4573998"/>
            <a:ext cx="1" cy="5885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25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1285E6DE-64F4-0219-B2CE-5C3C1FE02F60}"/>
              </a:ext>
            </a:extLst>
          </p:cNvPr>
          <p:cNvSpPr>
            <a:spLocks/>
          </p:cNvSpPr>
          <p:nvPr/>
        </p:nvSpPr>
        <p:spPr>
          <a:xfrm>
            <a:off x="1076325" y="3654290"/>
            <a:ext cx="10144125" cy="2815480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992F54A3-CCA1-A306-5981-1068E4EC0C70}"/>
              </a:ext>
            </a:extLst>
          </p:cNvPr>
          <p:cNvSpPr>
            <a:spLocks/>
          </p:cNvSpPr>
          <p:nvPr/>
        </p:nvSpPr>
        <p:spPr>
          <a:xfrm>
            <a:off x="4042238" y="4626914"/>
            <a:ext cx="351245" cy="661102"/>
          </a:xfrm>
          <a:prstGeom prst="trapezoid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724D6B6-75CD-F7E6-D881-7A24A7F3125A}"/>
              </a:ext>
            </a:extLst>
          </p:cNvPr>
          <p:cNvSpPr>
            <a:spLocks/>
          </p:cNvSpPr>
          <p:nvPr/>
        </p:nvSpPr>
        <p:spPr>
          <a:xfrm>
            <a:off x="1076325" y="828035"/>
            <a:ext cx="10144125" cy="2277397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E9847EB-97F2-54F2-F061-36DAC41C383D}"/>
              </a:ext>
            </a:extLst>
          </p:cNvPr>
          <p:cNvSpPr txBox="1">
            <a:spLocks/>
          </p:cNvSpPr>
          <p:nvPr/>
        </p:nvSpPr>
        <p:spPr>
          <a:xfrm>
            <a:off x="1850358" y="876969"/>
            <a:ext cx="83439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Deterministic Schedule - ESS assembly line stage 2</a:t>
            </a:r>
          </a:p>
          <a:p>
            <a:pPr algn="ctr"/>
            <a:endParaRPr lang="en-US" altLang="zh-C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Jobs in 8 Hours (Ideal)</a:t>
            </a:r>
          </a:p>
        </p:txBody>
      </p:sp>
      <p:sp>
        <p:nvSpPr>
          <p:cNvPr id="97" name="箭头: 右 96">
            <a:extLst>
              <a:ext uri="{FF2B5EF4-FFF2-40B4-BE49-F238E27FC236}">
                <a16:creationId xmlns:a16="http://schemas.microsoft.com/office/drawing/2014/main" id="{013DDAF5-1447-1788-0845-AF23312D8AA7}"/>
              </a:ext>
            </a:extLst>
          </p:cNvPr>
          <p:cNvSpPr>
            <a:spLocks/>
          </p:cNvSpPr>
          <p:nvPr/>
        </p:nvSpPr>
        <p:spPr>
          <a:xfrm>
            <a:off x="1786204" y="1829248"/>
            <a:ext cx="557021" cy="20144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C3DF4D7B-2626-92DD-049E-16AB57AC3968}"/>
              </a:ext>
            </a:extLst>
          </p:cNvPr>
          <p:cNvCxnSpPr>
            <a:cxnSpLocks/>
          </p:cNvCxnSpPr>
          <p:nvPr/>
        </p:nvCxnSpPr>
        <p:spPr>
          <a:xfrm>
            <a:off x="2514700" y="2579546"/>
            <a:ext cx="686119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956E5E4-5976-A3B6-7C4A-8E3160D7F7E6}"/>
              </a:ext>
            </a:extLst>
          </p:cNvPr>
          <p:cNvSpPr txBox="1">
            <a:spLocks/>
          </p:cNvSpPr>
          <p:nvPr/>
        </p:nvSpPr>
        <p:spPr>
          <a:xfrm>
            <a:off x="3947845" y="2595763"/>
            <a:ext cx="406301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Bin = 1 Working Day (8-Hour Shift)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69945E8E-1C7E-DD71-22DA-1EFD72976146}"/>
              </a:ext>
            </a:extLst>
          </p:cNvPr>
          <p:cNvGrpSpPr>
            <a:grpSpLocks/>
          </p:cNvGrpSpPr>
          <p:nvPr/>
        </p:nvGrpSpPr>
        <p:grpSpPr>
          <a:xfrm>
            <a:off x="7821091" y="1656946"/>
            <a:ext cx="618856" cy="569774"/>
            <a:chOff x="7086600" y="2037421"/>
            <a:chExt cx="384176" cy="569774"/>
          </a:xfrm>
        </p:grpSpPr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E18B6D79-2A6D-DBB3-F013-5391C10C4333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9</a:t>
              </a:r>
              <a:endParaRPr lang="zh-CN" altLang="en-US" sz="1200" dirty="0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2511515E-29D4-98D9-DB3B-A2ACF447D6E6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B3125756-097F-C1C1-57E6-A964E6D91EFB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sp>
        <p:nvSpPr>
          <p:cNvPr id="170" name="箭头: 右 169">
            <a:extLst>
              <a:ext uri="{FF2B5EF4-FFF2-40B4-BE49-F238E27FC236}">
                <a16:creationId xmlns:a16="http://schemas.microsoft.com/office/drawing/2014/main" id="{D0A2B7BA-6745-C513-F4A4-5B2CAFECE6A4}"/>
              </a:ext>
            </a:extLst>
          </p:cNvPr>
          <p:cNvSpPr>
            <a:spLocks/>
          </p:cNvSpPr>
          <p:nvPr/>
        </p:nvSpPr>
        <p:spPr>
          <a:xfrm>
            <a:off x="9647001" y="1829248"/>
            <a:ext cx="557021" cy="20144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6EB93FF9-21C9-50B6-DF62-C270D9C7B021}"/>
              </a:ext>
            </a:extLst>
          </p:cNvPr>
          <p:cNvSpPr>
            <a:spLocks/>
          </p:cNvSpPr>
          <p:nvPr/>
        </p:nvSpPr>
        <p:spPr>
          <a:xfrm>
            <a:off x="2798230" y="2335073"/>
            <a:ext cx="138052" cy="136792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3A77D14-23A7-4C15-9405-293934D88221}"/>
              </a:ext>
            </a:extLst>
          </p:cNvPr>
          <p:cNvSpPr txBox="1">
            <a:spLocks/>
          </p:cNvSpPr>
          <p:nvPr/>
        </p:nvSpPr>
        <p:spPr>
          <a:xfrm>
            <a:off x="2836861" y="2270810"/>
            <a:ext cx="1408398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A (Manual)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1B237111-7A42-4771-A533-0D8AD11196FD}"/>
              </a:ext>
            </a:extLst>
          </p:cNvPr>
          <p:cNvSpPr>
            <a:spLocks/>
          </p:cNvSpPr>
          <p:nvPr/>
        </p:nvSpPr>
        <p:spPr>
          <a:xfrm>
            <a:off x="4167449" y="2338000"/>
            <a:ext cx="138052" cy="136792"/>
          </a:xfrm>
          <a:prstGeom prst="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09237751-FF14-BD5D-4ECA-53D4297A668F}"/>
              </a:ext>
            </a:extLst>
          </p:cNvPr>
          <p:cNvSpPr txBox="1">
            <a:spLocks/>
          </p:cNvSpPr>
          <p:nvPr/>
        </p:nvSpPr>
        <p:spPr>
          <a:xfrm>
            <a:off x="4173323" y="2274657"/>
            <a:ext cx="1646423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B (Automated)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DC389F0-B3ED-B4E4-D831-7CD825F9C8B6}"/>
              </a:ext>
            </a:extLst>
          </p:cNvPr>
          <p:cNvSpPr txBox="1">
            <a:spLocks/>
          </p:cNvSpPr>
          <p:nvPr/>
        </p:nvSpPr>
        <p:spPr>
          <a:xfrm>
            <a:off x="2355897" y="3815720"/>
            <a:ext cx="7030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Realization: Capacity Gridlock &amp; Loss </a:t>
            </a:r>
          </a:p>
        </p:txBody>
      </p: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8F0F59ED-0408-D63F-7F1D-697A35B27064}"/>
              </a:ext>
            </a:extLst>
          </p:cNvPr>
          <p:cNvCxnSpPr>
            <a:cxnSpLocks/>
          </p:cNvCxnSpPr>
          <p:nvPr/>
        </p:nvCxnSpPr>
        <p:spPr>
          <a:xfrm>
            <a:off x="2514701" y="5911811"/>
            <a:ext cx="348307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文本框 178">
            <a:extLst>
              <a:ext uri="{FF2B5EF4-FFF2-40B4-BE49-F238E27FC236}">
                <a16:creationId xmlns:a16="http://schemas.microsoft.com/office/drawing/2014/main" id="{6BFE7CBB-0185-5B87-9C53-AB63FE0866A2}"/>
              </a:ext>
            </a:extLst>
          </p:cNvPr>
          <p:cNvSpPr txBox="1">
            <a:spLocks/>
          </p:cNvSpPr>
          <p:nvPr/>
        </p:nvSpPr>
        <p:spPr>
          <a:xfrm>
            <a:off x="3476870" y="5936866"/>
            <a:ext cx="131508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8-Hour Shift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FCC3EF71-7ABD-42FB-F2E3-A1769F226E58}"/>
              </a:ext>
            </a:extLst>
          </p:cNvPr>
          <p:cNvSpPr>
            <a:spLocks/>
          </p:cNvSpPr>
          <p:nvPr/>
        </p:nvSpPr>
        <p:spPr>
          <a:xfrm>
            <a:off x="6350179" y="4662368"/>
            <a:ext cx="686315" cy="608545"/>
          </a:xfrm>
          <a:custGeom>
            <a:avLst/>
            <a:gdLst>
              <a:gd name="connsiteX0" fmla="*/ 0 w 686315"/>
              <a:gd name="connsiteY0" fmla="*/ 0 h 608545"/>
              <a:gd name="connsiteX1" fmla="*/ 336294 w 686315"/>
              <a:gd name="connsiteY1" fmla="*/ 0 h 608545"/>
              <a:gd name="connsiteX2" fmla="*/ 686315 w 686315"/>
              <a:gd name="connsiteY2" fmla="*/ 0 h 608545"/>
              <a:gd name="connsiteX3" fmla="*/ 686315 w 686315"/>
              <a:gd name="connsiteY3" fmla="*/ 316443 h 608545"/>
              <a:gd name="connsiteX4" fmla="*/ 686315 w 686315"/>
              <a:gd name="connsiteY4" fmla="*/ 608545 h 608545"/>
              <a:gd name="connsiteX5" fmla="*/ 356884 w 686315"/>
              <a:gd name="connsiteY5" fmla="*/ 608545 h 608545"/>
              <a:gd name="connsiteX6" fmla="*/ 0 w 686315"/>
              <a:gd name="connsiteY6" fmla="*/ 608545 h 608545"/>
              <a:gd name="connsiteX7" fmla="*/ 0 w 686315"/>
              <a:gd name="connsiteY7" fmla="*/ 316443 h 608545"/>
              <a:gd name="connsiteX8" fmla="*/ 0 w 686315"/>
              <a:gd name="connsiteY8" fmla="*/ 0 h 60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6315" h="608545" extrusionOk="0">
                <a:moveTo>
                  <a:pt x="0" y="0"/>
                </a:moveTo>
                <a:cubicBezTo>
                  <a:pt x="119167" y="-30759"/>
                  <a:pt x="251391" y="35183"/>
                  <a:pt x="336294" y="0"/>
                </a:cubicBezTo>
                <a:cubicBezTo>
                  <a:pt x="421197" y="-35183"/>
                  <a:pt x="542329" y="36698"/>
                  <a:pt x="686315" y="0"/>
                </a:cubicBezTo>
                <a:cubicBezTo>
                  <a:pt x="716264" y="64485"/>
                  <a:pt x="654574" y="230435"/>
                  <a:pt x="686315" y="316443"/>
                </a:cubicBezTo>
                <a:cubicBezTo>
                  <a:pt x="718056" y="402451"/>
                  <a:pt x="660964" y="546742"/>
                  <a:pt x="686315" y="608545"/>
                </a:cubicBezTo>
                <a:cubicBezTo>
                  <a:pt x="522140" y="629070"/>
                  <a:pt x="517555" y="601372"/>
                  <a:pt x="356884" y="608545"/>
                </a:cubicBezTo>
                <a:cubicBezTo>
                  <a:pt x="196213" y="615718"/>
                  <a:pt x="161097" y="586256"/>
                  <a:pt x="0" y="608545"/>
                </a:cubicBezTo>
                <a:cubicBezTo>
                  <a:pt x="-890" y="515324"/>
                  <a:pt x="11200" y="442528"/>
                  <a:pt x="0" y="316443"/>
                </a:cubicBezTo>
                <a:cubicBezTo>
                  <a:pt x="-11200" y="190358"/>
                  <a:pt x="25535" y="124617"/>
                  <a:pt x="0" y="0"/>
                </a:cubicBezTo>
                <a:close/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Job 7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B3D44EF1-88A7-5240-F8B8-58E692D6E4C6}"/>
              </a:ext>
            </a:extLst>
          </p:cNvPr>
          <p:cNvSpPr>
            <a:spLocks/>
          </p:cNvSpPr>
          <p:nvPr/>
        </p:nvSpPr>
        <p:spPr>
          <a:xfrm>
            <a:off x="7042706" y="4662368"/>
            <a:ext cx="724103" cy="608545"/>
          </a:xfrm>
          <a:custGeom>
            <a:avLst/>
            <a:gdLst>
              <a:gd name="connsiteX0" fmla="*/ 0 w 724103"/>
              <a:gd name="connsiteY0" fmla="*/ 0 h 608545"/>
              <a:gd name="connsiteX1" fmla="*/ 347569 w 724103"/>
              <a:gd name="connsiteY1" fmla="*/ 0 h 608545"/>
              <a:gd name="connsiteX2" fmla="*/ 724103 w 724103"/>
              <a:gd name="connsiteY2" fmla="*/ 0 h 608545"/>
              <a:gd name="connsiteX3" fmla="*/ 724103 w 724103"/>
              <a:gd name="connsiteY3" fmla="*/ 304273 h 608545"/>
              <a:gd name="connsiteX4" fmla="*/ 724103 w 724103"/>
              <a:gd name="connsiteY4" fmla="*/ 608545 h 608545"/>
              <a:gd name="connsiteX5" fmla="*/ 354810 w 724103"/>
              <a:gd name="connsiteY5" fmla="*/ 608545 h 608545"/>
              <a:gd name="connsiteX6" fmla="*/ 0 w 724103"/>
              <a:gd name="connsiteY6" fmla="*/ 608545 h 608545"/>
              <a:gd name="connsiteX7" fmla="*/ 0 w 724103"/>
              <a:gd name="connsiteY7" fmla="*/ 310358 h 608545"/>
              <a:gd name="connsiteX8" fmla="*/ 0 w 724103"/>
              <a:gd name="connsiteY8" fmla="*/ 0 h 60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103" h="608545" extrusionOk="0">
                <a:moveTo>
                  <a:pt x="0" y="0"/>
                </a:moveTo>
                <a:cubicBezTo>
                  <a:pt x="87819" y="-4598"/>
                  <a:pt x="198938" y="11302"/>
                  <a:pt x="347569" y="0"/>
                </a:cubicBezTo>
                <a:cubicBezTo>
                  <a:pt x="496200" y="-11302"/>
                  <a:pt x="578424" y="38947"/>
                  <a:pt x="724103" y="0"/>
                </a:cubicBezTo>
                <a:cubicBezTo>
                  <a:pt x="725139" y="94940"/>
                  <a:pt x="714747" y="181535"/>
                  <a:pt x="724103" y="304273"/>
                </a:cubicBezTo>
                <a:cubicBezTo>
                  <a:pt x="733459" y="427011"/>
                  <a:pt x="718208" y="511015"/>
                  <a:pt x="724103" y="608545"/>
                </a:cubicBezTo>
                <a:cubicBezTo>
                  <a:pt x="546961" y="635475"/>
                  <a:pt x="508697" y="564433"/>
                  <a:pt x="354810" y="608545"/>
                </a:cubicBezTo>
                <a:cubicBezTo>
                  <a:pt x="200923" y="652657"/>
                  <a:pt x="135370" y="594925"/>
                  <a:pt x="0" y="608545"/>
                </a:cubicBezTo>
                <a:cubicBezTo>
                  <a:pt x="-16709" y="524343"/>
                  <a:pt x="28612" y="413021"/>
                  <a:pt x="0" y="310358"/>
                </a:cubicBezTo>
                <a:cubicBezTo>
                  <a:pt x="-28612" y="207695"/>
                  <a:pt x="37044" y="10142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Job 8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07B145A1-5A16-6E35-8708-A190CB33EE3E}"/>
              </a:ext>
            </a:extLst>
          </p:cNvPr>
          <p:cNvSpPr>
            <a:spLocks/>
          </p:cNvSpPr>
          <p:nvPr/>
        </p:nvSpPr>
        <p:spPr>
          <a:xfrm>
            <a:off x="7751682" y="4662368"/>
            <a:ext cx="755294" cy="608545"/>
          </a:xfrm>
          <a:custGeom>
            <a:avLst/>
            <a:gdLst>
              <a:gd name="connsiteX0" fmla="*/ 0 w 755294"/>
              <a:gd name="connsiteY0" fmla="*/ 0 h 608545"/>
              <a:gd name="connsiteX1" fmla="*/ 370094 w 755294"/>
              <a:gd name="connsiteY1" fmla="*/ 0 h 608545"/>
              <a:gd name="connsiteX2" fmla="*/ 755294 w 755294"/>
              <a:gd name="connsiteY2" fmla="*/ 0 h 608545"/>
              <a:gd name="connsiteX3" fmla="*/ 755294 w 755294"/>
              <a:gd name="connsiteY3" fmla="*/ 298187 h 608545"/>
              <a:gd name="connsiteX4" fmla="*/ 755294 w 755294"/>
              <a:gd name="connsiteY4" fmla="*/ 608545 h 608545"/>
              <a:gd name="connsiteX5" fmla="*/ 370094 w 755294"/>
              <a:gd name="connsiteY5" fmla="*/ 608545 h 608545"/>
              <a:gd name="connsiteX6" fmla="*/ 0 w 755294"/>
              <a:gd name="connsiteY6" fmla="*/ 608545 h 608545"/>
              <a:gd name="connsiteX7" fmla="*/ 0 w 755294"/>
              <a:gd name="connsiteY7" fmla="*/ 292102 h 608545"/>
              <a:gd name="connsiteX8" fmla="*/ 0 w 755294"/>
              <a:gd name="connsiteY8" fmla="*/ 0 h 60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5294" h="608545" extrusionOk="0">
                <a:moveTo>
                  <a:pt x="0" y="0"/>
                </a:moveTo>
                <a:cubicBezTo>
                  <a:pt x="125659" y="-9035"/>
                  <a:pt x="251174" y="166"/>
                  <a:pt x="370094" y="0"/>
                </a:cubicBezTo>
                <a:cubicBezTo>
                  <a:pt x="489014" y="-166"/>
                  <a:pt x="671733" y="34220"/>
                  <a:pt x="755294" y="0"/>
                </a:cubicBezTo>
                <a:cubicBezTo>
                  <a:pt x="781221" y="107494"/>
                  <a:pt x="751851" y="221052"/>
                  <a:pt x="755294" y="298187"/>
                </a:cubicBezTo>
                <a:cubicBezTo>
                  <a:pt x="758737" y="375322"/>
                  <a:pt x="720847" y="476494"/>
                  <a:pt x="755294" y="608545"/>
                </a:cubicBezTo>
                <a:cubicBezTo>
                  <a:pt x="677561" y="642653"/>
                  <a:pt x="507593" y="605822"/>
                  <a:pt x="370094" y="608545"/>
                </a:cubicBezTo>
                <a:cubicBezTo>
                  <a:pt x="232595" y="611268"/>
                  <a:pt x="150890" y="581639"/>
                  <a:pt x="0" y="608545"/>
                </a:cubicBezTo>
                <a:cubicBezTo>
                  <a:pt x="-36287" y="541666"/>
                  <a:pt x="36133" y="422173"/>
                  <a:pt x="0" y="292102"/>
                </a:cubicBezTo>
                <a:cubicBezTo>
                  <a:pt x="-36133" y="162031"/>
                  <a:pt x="35035" y="11955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8418723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Job 9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25" name="等腰三角形 224">
            <a:extLst>
              <a:ext uri="{FF2B5EF4-FFF2-40B4-BE49-F238E27FC236}">
                <a16:creationId xmlns:a16="http://schemas.microsoft.com/office/drawing/2014/main" id="{B1A973D4-5A22-2475-A09C-7740CFF2CF5D}"/>
              </a:ext>
            </a:extLst>
          </p:cNvPr>
          <p:cNvSpPr>
            <a:spLocks/>
          </p:cNvSpPr>
          <p:nvPr/>
        </p:nvSpPr>
        <p:spPr>
          <a:xfrm>
            <a:off x="3665631" y="5002307"/>
            <a:ext cx="151821" cy="285690"/>
          </a:xfrm>
          <a:prstGeom prst="triangl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6" name="等腰三角形 225">
            <a:extLst>
              <a:ext uri="{FF2B5EF4-FFF2-40B4-BE49-F238E27FC236}">
                <a16:creationId xmlns:a16="http://schemas.microsoft.com/office/drawing/2014/main" id="{9E4D4804-2F65-9FE4-93BE-83C42C750636}"/>
              </a:ext>
            </a:extLst>
          </p:cNvPr>
          <p:cNvSpPr>
            <a:spLocks/>
          </p:cNvSpPr>
          <p:nvPr/>
        </p:nvSpPr>
        <p:spPr>
          <a:xfrm>
            <a:off x="3098827" y="4451162"/>
            <a:ext cx="227801" cy="854465"/>
          </a:xfrm>
          <a:prstGeom prst="triangl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51FA77F8-9E73-3AB3-6BB9-693B593538F4}"/>
              </a:ext>
            </a:extLst>
          </p:cNvPr>
          <p:cNvGrpSpPr>
            <a:grpSpLocks/>
          </p:cNvGrpSpPr>
          <p:nvPr/>
        </p:nvGrpSpPr>
        <p:grpSpPr>
          <a:xfrm>
            <a:off x="2777489" y="4729965"/>
            <a:ext cx="387350" cy="569774"/>
            <a:chOff x="7086600" y="2037421"/>
            <a:chExt cx="387350" cy="569774"/>
          </a:xfrm>
        </p:grpSpPr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73201945-A5D9-9FBB-FFEF-C923B911C260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1</a:t>
              </a:r>
              <a:endParaRPr lang="zh-CN" altLang="en-US" sz="800" dirty="0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0226E267-AE24-39DC-DDD9-53A2E20413DD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174EF249-0D14-DD9A-622D-1DF31EDF0515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F898CC88-FE48-78D7-097C-C4CC74EE820E}"/>
              </a:ext>
            </a:extLst>
          </p:cNvPr>
          <p:cNvGrpSpPr>
            <a:grpSpLocks/>
          </p:cNvGrpSpPr>
          <p:nvPr/>
        </p:nvGrpSpPr>
        <p:grpSpPr>
          <a:xfrm>
            <a:off x="3332127" y="4724444"/>
            <a:ext cx="387350" cy="569774"/>
            <a:chOff x="7086600" y="2037421"/>
            <a:chExt cx="387350" cy="569774"/>
          </a:xfrm>
        </p:grpSpPr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E4DC74A9-5E41-FF08-16B5-0AC5585F0E1E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2</a:t>
              </a:r>
              <a:endParaRPr lang="zh-CN" altLang="en-US" sz="800" dirty="0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508F971-CBA0-8AFC-B5DA-69937586E691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DF56A70-2EBC-8D0C-4A52-2A460948BA1C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227" name="等腰三角形 226">
            <a:extLst>
              <a:ext uri="{FF2B5EF4-FFF2-40B4-BE49-F238E27FC236}">
                <a16:creationId xmlns:a16="http://schemas.microsoft.com/office/drawing/2014/main" id="{E4F6426E-0614-45E5-3080-72678EF501A3}"/>
              </a:ext>
            </a:extLst>
          </p:cNvPr>
          <p:cNvSpPr>
            <a:spLocks/>
          </p:cNvSpPr>
          <p:nvPr/>
        </p:nvSpPr>
        <p:spPr>
          <a:xfrm>
            <a:off x="3727830" y="4586107"/>
            <a:ext cx="351245" cy="713002"/>
          </a:xfrm>
          <a:prstGeom prst="triangl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8" name="梯形 227">
            <a:extLst>
              <a:ext uri="{FF2B5EF4-FFF2-40B4-BE49-F238E27FC236}">
                <a16:creationId xmlns:a16="http://schemas.microsoft.com/office/drawing/2014/main" id="{497E3925-5B4F-D4F9-0FD1-B38C15B36653}"/>
              </a:ext>
            </a:extLst>
          </p:cNvPr>
          <p:cNvSpPr>
            <a:spLocks/>
          </p:cNvSpPr>
          <p:nvPr/>
        </p:nvSpPr>
        <p:spPr>
          <a:xfrm>
            <a:off x="4185676" y="4954370"/>
            <a:ext cx="351245" cy="338543"/>
          </a:xfrm>
          <a:prstGeom prst="trapezoid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A33ACC18-C935-D832-B4B6-FDC1D312AD22}"/>
              </a:ext>
            </a:extLst>
          </p:cNvPr>
          <p:cNvSpPr>
            <a:spLocks/>
          </p:cNvSpPr>
          <p:nvPr/>
        </p:nvSpPr>
        <p:spPr>
          <a:xfrm>
            <a:off x="4748859" y="4896561"/>
            <a:ext cx="290300" cy="403177"/>
          </a:xfrm>
          <a:prstGeom prst="triangl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30" name="等腰三角形 229">
            <a:extLst>
              <a:ext uri="{FF2B5EF4-FFF2-40B4-BE49-F238E27FC236}">
                <a16:creationId xmlns:a16="http://schemas.microsoft.com/office/drawing/2014/main" id="{A2A137BC-D42D-A414-1AD5-0C2CD7F2C80A}"/>
              </a:ext>
            </a:extLst>
          </p:cNvPr>
          <p:cNvSpPr>
            <a:spLocks/>
          </p:cNvSpPr>
          <p:nvPr/>
        </p:nvSpPr>
        <p:spPr>
          <a:xfrm>
            <a:off x="5217106" y="4586736"/>
            <a:ext cx="351245" cy="713002"/>
          </a:xfrm>
          <a:prstGeom prst="triangle">
            <a:avLst>
              <a:gd name="adj" fmla="val 70602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34" name="梯形 233">
            <a:extLst>
              <a:ext uri="{FF2B5EF4-FFF2-40B4-BE49-F238E27FC236}">
                <a16:creationId xmlns:a16="http://schemas.microsoft.com/office/drawing/2014/main" id="{EF9BCBBB-6C58-ABB7-2ECD-76CF7A9A1D2A}"/>
              </a:ext>
            </a:extLst>
          </p:cNvPr>
          <p:cNvSpPr>
            <a:spLocks/>
          </p:cNvSpPr>
          <p:nvPr/>
        </p:nvSpPr>
        <p:spPr>
          <a:xfrm>
            <a:off x="4333171" y="5197571"/>
            <a:ext cx="351245" cy="97309"/>
          </a:xfrm>
          <a:prstGeom prst="trapezoid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786FEBBB-968E-A696-1922-AE2E5F2BF4BE}"/>
              </a:ext>
            </a:extLst>
          </p:cNvPr>
          <p:cNvGrpSpPr>
            <a:grpSpLocks/>
          </p:cNvGrpSpPr>
          <p:nvPr/>
        </p:nvGrpSpPr>
        <p:grpSpPr>
          <a:xfrm>
            <a:off x="4534549" y="4725551"/>
            <a:ext cx="387350" cy="569774"/>
            <a:chOff x="7086600" y="2037421"/>
            <a:chExt cx="387350" cy="569774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66FF9A82-B029-EA9B-13C9-94DF4EA46AA0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4</a:t>
              </a:r>
              <a:endParaRPr lang="zh-CN" altLang="en-US" sz="800" dirty="0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E40AA602-96FA-C3C5-A13D-F606008B7C55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1D44A5DF-38CB-EAD7-5B08-BBF05CE66FDE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CF3DD76F-7C4E-2A6E-D7EE-82DA8077E0FA}"/>
              </a:ext>
            </a:extLst>
          </p:cNvPr>
          <p:cNvGrpSpPr>
            <a:grpSpLocks/>
          </p:cNvGrpSpPr>
          <p:nvPr/>
        </p:nvGrpSpPr>
        <p:grpSpPr>
          <a:xfrm>
            <a:off x="5039158" y="4727793"/>
            <a:ext cx="387350" cy="569774"/>
            <a:chOff x="7086600" y="2037421"/>
            <a:chExt cx="387350" cy="569774"/>
          </a:xfrm>
        </p:grpSpPr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9D91CD9E-707F-5350-54A6-19D6027C79F9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5</a:t>
              </a:r>
              <a:endParaRPr lang="zh-CN" altLang="en-US" sz="800" dirty="0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38F77241-B873-DDB6-6FF2-BE7750B481D8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13898CEB-2264-C51D-094A-89E4E7CF3354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548A38EC-C89C-E02A-32EE-D6D8E2479496}"/>
              </a:ext>
            </a:extLst>
          </p:cNvPr>
          <p:cNvGrpSpPr>
            <a:grpSpLocks/>
          </p:cNvGrpSpPr>
          <p:nvPr/>
        </p:nvGrpSpPr>
        <p:grpSpPr>
          <a:xfrm>
            <a:off x="5554159" y="4716313"/>
            <a:ext cx="447283" cy="569774"/>
            <a:chOff x="7086600" y="2037421"/>
            <a:chExt cx="387350" cy="569774"/>
          </a:xfrm>
        </p:grpSpPr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C810B406-8838-9859-76F0-09D5DCE84775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6</a:t>
              </a:r>
              <a:endParaRPr lang="zh-CN" altLang="en-US" sz="800" dirty="0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7896F4C6-0117-289C-E77D-C91195489505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BFBCF45B-22C8-0529-E2CA-727A450CAD87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pic>
        <p:nvPicPr>
          <p:cNvPr id="236" name="图形 235" descr="关闭 纯色填充">
            <a:extLst>
              <a:ext uri="{FF2B5EF4-FFF2-40B4-BE49-F238E27FC236}">
                <a16:creationId xmlns:a16="http://schemas.microsoft.com/office/drawing/2014/main" id="{5A3B5B53-38D8-7800-9D90-0F34A96B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6797" y="5003860"/>
            <a:ext cx="650632" cy="643581"/>
          </a:xfrm>
          <a:prstGeom prst="rect">
            <a:avLst/>
          </a:prstGeom>
        </p:spPr>
      </p:pic>
      <p:sp>
        <p:nvSpPr>
          <p:cNvPr id="237" name="文本框 236">
            <a:extLst>
              <a:ext uri="{FF2B5EF4-FFF2-40B4-BE49-F238E27FC236}">
                <a16:creationId xmlns:a16="http://schemas.microsoft.com/office/drawing/2014/main" id="{FD85D995-85C3-3134-0D96-989744825FE1}"/>
              </a:ext>
            </a:extLst>
          </p:cNvPr>
          <p:cNvSpPr txBox="1">
            <a:spLocks/>
          </p:cNvSpPr>
          <p:nvPr/>
        </p:nvSpPr>
        <p:spPr>
          <a:xfrm>
            <a:off x="5737797" y="5594597"/>
            <a:ext cx="10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</a:p>
          <a:p>
            <a:pPr algn="ctr"/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3C12B41-99A5-E149-99D5-D8048E289D57}"/>
              </a:ext>
            </a:extLst>
          </p:cNvPr>
          <p:cNvSpPr>
            <a:spLocks/>
          </p:cNvSpPr>
          <p:nvPr/>
        </p:nvSpPr>
        <p:spPr>
          <a:xfrm>
            <a:off x="3869094" y="4507135"/>
            <a:ext cx="351245" cy="787076"/>
          </a:xfrm>
          <a:prstGeom prst="triangle">
            <a:avLst>
              <a:gd name="adj" fmla="val 23780"/>
            </a:avLst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BA371578-71B7-0B67-A7F9-AFBA96DB5F2B}"/>
              </a:ext>
            </a:extLst>
          </p:cNvPr>
          <p:cNvGrpSpPr>
            <a:grpSpLocks/>
          </p:cNvGrpSpPr>
          <p:nvPr/>
        </p:nvGrpSpPr>
        <p:grpSpPr>
          <a:xfrm>
            <a:off x="3874149" y="4716313"/>
            <a:ext cx="480880" cy="569774"/>
            <a:chOff x="7086600" y="2037421"/>
            <a:chExt cx="387350" cy="569774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22F06C0B-D0F4-4444-1532-C72F91BCC79D}"/>
                </a:ext>
              </a:extLst>
            </p:cNvPr>
            <p:cNvSpPr>
              <a:spLocks/>
            </p:cNvSpPr>
            <p:nvPr/>
          </p:nvSpPr>
          <p:spPr>
            <a:xfrm>
              <a:off x="7086600" y="2037421"/>
              <a:ext cx="387350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Job 3</a:t>
              </a:r>
              <a:endParaRPr lang="zh-CN" altLang="en-US" sz="800" dirty="0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D48E2161-369E-6D32-5D0C-866E5FB6506B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60F2202B-8213-33A3-1CDA-A13E8D310040}"/>
                </a:ext>
              </a:extLst>
            </p:cNvPr>
            <p:cNvSpPr>
              <a:spLocks/>
            </p:cNvSpPr>
            <p:nvPr/>
          </p:nvSpPr>
          <p:spPr>
            <a:xfrm>
              <a:off x="7276296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</p:grpSp>
      <p:pic>
        <p:nvPicPr>
          <p:cNvPr id="6" name="图形 5">
            <a:extLst>
              <a:ext uri="{FF2B5EF4-FFF2-40B4-BE49-F238E27FC236}">
                <a16:creationId xmlns:a16="http://schemas.microsoft.com/office/drawing/2014/main" id="{83181852-3135-7F5C-9940-16A4AFF37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227" y="4301379"/>
            <a:ext cx="178927" cy="178927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6618E8F3-486B-386E-0F9A-01BB8F964A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8995" y="4297425"/>
            <a:ext cx="200668" cy="200668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9E24677B-F3E0-32A6-7797-2C8BC61B16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96826" y="4394949"/>
            <a:ext cx="196850" cy="196850"/>
          </a:xfrm>
          <a:prstGeom prst="rect">
            <a:avLst/>
          </a:prstGeom>
        </p:spPr>
      </p:pic>
      <p:sp>
        <p:nvSpPr>
          <p:cNvPr id="11" name="弧形 10">
            <a:extLst>
              <a:ext uri="{FF2B5EF4-FFF2-40B4-BE49-F238E27FC236}">
                <a16:creationId xmlns:a16="http://schemas.microsoft.com/office/drawing/2014/main" id="{C17E5AC7-FADF-6EA4-8C2E-2F51E0E71520}"/>
              </a:ext>
            </a:extLst>
          </p:cNvPr>
          <p:cNvSpPr>
            <a:spLocks/>
          </p:cNvSpPr>
          <p:nvPr/>
        </p:nvSpPr>
        <p:spPr>
          <a:xfrm rot="17332549">
            <a:off x="4383868" y="4334623"/>
            <a:ext cx="249437" cy="365535"/>
          </a:xfrm>
          <a:prstGeom prst="arc">
            <a:avLst>
              <a:gd name="adj1" fmla="val 17973175"/>
              <a:gd name="adj2" fmla="val 3263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BD5D2F-59D7-D2C4-6907-C0D64F22F967}"/>
              </a:ext>
            </a:extLst>
          </p:cNvPr>
          <p:cNvSpPr txBox="1">
            <a:spLocks/>
          </p:cNvSpPr>
          <p:nvPr/>
        </p:nvSpPr>
        <p:spPr>
          <a:xfrm>
            <a:off x="4484239" y="4229280"/>
            <a:ext cx="803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speed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58E44C73-A9B1-F091-BD95-7F48F447B776}"/>
              </a:ext>
            </a:extLst>
          </p:cNvPr>
          <p:cNvSpPr>
            <a:spLocks/>
          </p:cNvSpPr>
          <p:nvPr/>
        </p:nvSpPr>
        <p:spPr>
          <a:xfrm>
            <a:off x="2965736" y="4206345"/>
            <a:ext cx="249437" cy="365535"/>
          </a:xfrm>
          <a:prstGeom prst="arc">
            <a:avLst>
              <a:gd name="adj1" fmla="val 17391857"/>
              <a:gd name="adj2" fmla="val 46678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A3CBE7-D5E0-FF8C-194B-7A66DCADE4BE}"/>
              </a:ext>
            </a:extLst>
          </p:cNvPr>
          <p:cNvSpPr txBox="1">
            <a:spLocks/>
          </p:cNvSpPr>
          <p:nvPr/>
        </p:nvSpPr>
        <p:spPr>
          <a:xfrm>
            <a:off x="2495014" y="3958544"/>
            <a:ext cx="803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</a:p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halts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1FB647-1FA8-1681-C9FE-89CD2D5489A1}"/>
              </a:ext>
            </a:extLst>
          </p:cNvPr>
          <p:cNvSpPr txBox="1">
            <a:spLocks/>
          </p:cNvSpPr>
          <p:nvPr/>
        </p:nvSpPr>
        <p:spPr>
          <a:xfrm>
            <a:off x="7203183" y="5417680"/>
            <a:ext cx="184029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planned jobs</a:t>
            </a:r>
          </a:p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uncompleted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弧形 25">
            <a:extLst>
              <a:ext uri="{FF2B5EF4-FFF2-40B4-BE49-F238E27FC236}">
                <a16:creationId xmlns:a16="http://schemas.microsoft.com/office/drawing/2014/main" id="{54AED923-EC55-987C-6B3D-F17BBB1D15AC}"/>
              </a:ext>
            </a:extLst>
          </p:cNvPr>
          <p:cNvSpPr>
            <a:spLocks/>
          </p:cNvSpPr>
          <p:nvPr/>
        </p:nvSpPr>
        <p:spPr>
          <a:xfrm flipH="1">
            <a:off x="7314585" y="5218145"/>
            <a:ext cx="470589" cy="365535"/>
          </a:xfrm>
          <a:prstGeom prst="arc">
            <a:avLst>
              <a:gd name="adj1" fmla="val 20450912"/>
              <a:gd name="adj2" fmla="val 529073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0DC9E49D-FE10-93FC-CA5D-6B4647CF0766}"/>
              </a:ext>
            </a:extLst>
          </p:cNvPr>
          <p:cNvSpPr>
            <a:spLocks/>
          </p:cNvSpPr>
          <p:nvPr/>
        </p:nvSpPr>
        <p:spPr>
          <a:xfrm>
            <a:off x="3774488" y="5385669"/>
            <a:ext cx="296029" cy="269715"/>
          </a:xfrm>
          <a:custGeom>
            <a:avLst/>
            <a:gdLst>
              <a:gd name="connsiteX0" fmla="*/ 0 w 296029"/>
              <a:gd name="connsiteY0" fmla="*/ 0 h 269715"/>
              <a:gd name="connsiteX1" fmla="*/ 230245 w 296029"/>
              <a:gd name="connsiteY1" fmla="*/ 111833 h 269715"/>
              <a:gd name="connsiteX2" fmla="*/ 289450 w 296029"/>
              <a:gd name="connsiteY2" fmla="*/ 217088 h 269715"/>
              <a:gd name="connsiteX3" fmla="*/ 296029 w 296029"/>
              <a:gd name="connsiteY3" fmla="*/ 269715 h 26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029" h="269715">
                <a:moveTo>
                  <a:pt x="0" y="0"/>
                </a:moveTo>
                <a:cubicBezTo>
                  <a:pt x="91001" y="37826"/>
                  <a:pt x="182003" y="75652"/>
                  <a:pt x="230245" y="111833"/>
                </a:cubicBezTo>
                <a:cubicBezTo>
                  <a:pt x="278487" y="148014"/>
                  <a:pt x="278486" y="190774"/>
                  <a:pt x="289450" y="217088"/>
                </a:cubicBezTo>
                <a:cubicBezTo>
                  <a:pt x="300414" y="243402"/>
                  <a:pt x="292740" y="252173"/>
                  <a:pt x="296029" y="2697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CE2B91-EB68-C9E3-89DE-B674D512750E}"/>
              </a:ext>
            </a:extLst>
          </p:cNvPr>
          <p:cNvSpPr txBox="1">
            <a:spLocks/>
          </p:cNvSpPr>
          <p:nvPr/>
        </p:nvSpPr>
        <p:spPr>
          <a:xfrm>
            <a:off x="2727464" y="5609699"/>
            <a:ext cx="269466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Stochastic Jitter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0E031BA1-8C6B-221C-66F7-A7B39801A31A}"/>
              </a:ext>
            </a:extLst>
          </p:cNvPr>
          <p:cNvSpPr>
            <a:spLocks/>
          </p:cNvSpPr>
          <p:nvPr/>
        </p:nvSpPr>
        <p:spPr>
          <a:xfrm>
            <a:off x="4241556" y="5392248"/>
            <a:ext cx="202070" cy="249979"/>
          </a:xfrm>
          <a:custGeom>
            <a:avLst/>
            <a:gdLst>
              <a:gd name="connsiteX0" fmla="*/ 197352 w 202070"/>
              <a:gd name="connsiteY0" fmla="*/ 0 h 249979"/>
              <a:gd name="connsiteX1" fmla="*/ 184195 w 202070"/>
              <a:gd name="connsiteY1" fmla="*/ 98676 h 249979"/>
              <a:gd name="connsiteX2" fmla="*/ 52627 w 202070"/>
              <a:gd name="connsiteY2" fmla="*/ 184195 h 249979"/>
              <a:gd name="connsiteX3" fmla="*/ 0 w 202070"/>
              <a:gd name="connsiteY3" fmla="*/ 249979 h 249979"/>
              <a:gd name="connsiteX4" fmla="*/ 0 w 202070"/>
              <a:gd name="connsiteY4" fmla="*/ 249979 h 249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070" h="249979">
                <a:moveTo>
                  <a:pt x="197352" y="0"/>
                </a:moveTo>
                <a:cubicBezTo>
                  <a:pt x="202834" y="33988"/>
                  <a:pt x="208316" y="67977"/>
                  <a:pt x="184195" y="98676"/>
                </a:cubicBezTo>
                <a:cubicBezTo>
                  <a:pt x="160074" y="129375"/>
                  <a:pt x="83326" y="158978"/>
                  <a:pt x="52627" y="184195"/>
                </a:cubicBezTo>
                <a:cubicBezTo>
                  <a:pt x="21928" y="209412"/>
                  <a:pt x="0" y="249979"/>
                  <a:pt x="0" y="249979"/>
                </a:cubicBezTo>
                <a:lnTo>
                  <a:pt x="0" y="24997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4D0E25C-C69C-C444-4B4F-B0FABAA27080}"/>
              </a:ext>
            </a:extLst>
          </p:cNvPr>
          <p:cNvSpPr>
            <a:spLocks/>
          </p:cNvSpPr>
          <p:nvPr/>
        </p:nvSpPr>
        <p:spPr>
          <a:xfrm>
            <a:off x="3246399" y="5385669"/>
            <a:ext cx="482040" cy="249980"/>
          </a:xfrm>
          <a:custGeom>
            <a:avLst/>
            <a:gdLst>
              <a:gd name="connsiteX0" fmla="*/ 8394 w 482040"/>
              <a:gd name="connsiteY0" fmla="*/ 0 h 249980"/>
              <a:gd name="connsiteX1" fmla="*/ 41286 w 482040"/>
              <a:gd name="connsiteY1" fmla="*/ 85520 h 249980"/>
              <a:gd name="connsiteX2" fmla="*/ 330736 w 482040"/>
              <a:gd name="connsiteY2" fmla="*/ 131568 h 249980"/>
              <a:gd name="connsiteX3" fmla="*/ 482040 w 482040"/>
              <a:gd name="connsiteY3" fmla="*/ 249980 h 249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040" h="249980">
                <a:moveTo>
                  <a:pt x="8394" y="0"/>
                </a:moveTo>
                <a:cubicBezTo>
                  <a:pt x="-2022" y="31796"/>
                  <a:pt x="-12438" y="63592"/>
                  <a:pt x="41286" y="85520"/>
                </a:cubicBezTo>
                <a:cubicBezTo>
                  <a:pt x="95010" y="107448"/>
                  <a:pt x="257277" y="104158"/>
                  <a:pt x="330736" y="131568"/>
                </a:cubicBezTo>
                <a:cubicBezTo>
                  <a:pt x="404195" y="158978"/>
                  <a:pt x="443117" y="204479"/>
                  <a:pt x="482040" y="24998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AEAA55C8-65B1-ED84-CA7A-5580A76F2A37}"/>
              </a:ext>
            </a:extLst>
          </p:cNvPr>
          <p:cNvSpPr>
            <a:spLocks/>
          </p:cNvSpPr>
          <p:nvPr/>
        </p:nvSpPr>
        <p:spPr>
          <a:xfrm>
            <a:off x="4563898" y="5425140"/>
            <a:ext cx="407862" cy="197352"/>
          </a:xfrm>
          <a:custGeom>
            <a:avLst/>
            <a:gdLst>
              <a:gd name="connsiteX0" fmla="*/ 407862 w 407862"/>
              <a:gd name="connsiteY0" fmla="*/ 0 h 197352"/>
              <a:gd name="connsiteX1" fmla="*/ 355235 w 407862"/>
              <a:gd name="connsiteY1" fmla="*/ 78941 h 197352"/>
              <a:gd name="connsiteX2" fmla="*/ 151304 w 407862"/>
              <a:gd name="connsiteY2" fmla="*/ 118411 h 197352"/>
              <a:gd name="connsiteX3" fmla="*/ 0 w 407862"/>
              <a:gd name="connsiteY3" fmla="*/ 197352 h 19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7862" h="197352">
                <a:moveTo>
                  <a:pt x="407862" y="0"/>
                </a:moveTo>
                <a:cubicBezTo>
                  <a:pt x="402928" y="29603"/>
                  <a:pt x="397995" y="59206"/>
                  <a:pt x="355235" y="78941"/>
                </a:cubicBezTo>
                <a:cubicBezTo>
                  <a:pt x="312475" y="98676"/>
                  <a:pt x="210510" y="98676"/>
                  <a:pt x="151304" y="118411"/>
                </a:cubicBezTo>
                <a:cubicBezTo>
                  <a:pt x="92098" y="138146"/>
                  <a:pt x="46049" y="167749"/>
                  <a:pt x="0" y="1973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05992AB-61DE-8043-8169-D34D05195C0A}"/>
              </a:ext>
            </a:extLst>
          </p:cNvPr>
          <p:cNvGrpSpPr>
            <a:grpSpLocks/>
          </p:cNvGrpSpPr>
          <p:nvPr/>
        </p:nvGrpSpPr>
        <p:grpSpPr>
          <a:xfrm>
            <a:off x="7196003" y="1656946"/>
            <a:ext cx="618856" cy="569774"/>
            <a:chOff x="7086600" y="2037421"/>
            <a:chExt cx="384176" cy="569774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7B48A5E-C763-E5AC-DA89-C857D14E2AAF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8</a:t>
              </a:r>
              <a:endParaRPr lang="zh-CN" altLang="en-US" sz="1200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6B58594-08BA-1A02-D3CE-30D0698DDE8E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FD18F9E4-ED5D-22B0-D305-9BCCC9EBA647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F8CF321-9DBD-EA95-C264-975624DDC89F}"/>
              </a:ext>
            </a:extLst>
          </p:cNvPr>
          <p:cNvGrpSpPr>
            <a:grpSpLocks/>
          </p:cNvGrpSpPr>
          <p:nvPr/>
        </p:nvGrpSpPr>
        <p:grpSpPr>
          <a:xfrm>
            <a:off x="6566357" y="1656946"/>
            <a:ext cx="618856" cy="569774"/>
            <a:chOff x="7086600" y="2037421"/>
            <a:chExt cx="384176" cy="56977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69133697-6D90-76F6-5780-B018C113604C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7</a:t>
              </a:r>
              <a:endParaRPr lang="zh-CN" altLang="en-US" sz="1200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E97643A7-DC41-F026-43C2-F569CC37B1A4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2E08361-912E-AA19-8749-51F676C88FBB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2E44237-6479-1D1A-F980-18AA0C64E119}"/>
              </a:ext>
            </a:extLst>
          </p:cNvPr>
          <p:cNvGrpSpPr>
            <a:grpSpLocks/>
          </p:cNvGrpSpPr>
          <p:nvPr/>
        </p:nvGrpSpPr>
        <p:grpSpPr>
          <a:xfrm>
            <a:off x="5940962" y="1656946"/>
            <a:ext cx="618856" cy="569774"/>
            <a:chOff x="7086600" y="2037421"/>
            <a:chExt cx="384176" cy="569774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23AB369-22E3-37EE-7E44-26A9C0B97194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6</a:t>
              </a:r>
              <a:endParaRPr lang="zh-CN" altLang="en-US" sz="1200" dirty="0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0268C96-2173-FE1A-8602-A7570526E092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8BF6A05-CC4E-138C-6080-1C416E086FF1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39D0A05-0F87-D6FD-B2E4-94980F25F9B9}"/>
              </a:ext>
            </a:extLst>
          </p:cNvPr>
          <p:cNvGrpSpPr>
            <a:grpSpLocks/>
          </p:cNvGrpSpPr>
          <p:nvPr/>
        </p:nvGrpSpPr>
        <p:grpSpPr>
          <a:xfrm>
            <a:off x="5305731" y="1656946"/>
            <a:ext cx="618856" cy="569774"/>
            <a:chOff x="7086600" y="2037421"/>
            <a:chExt cx="384176" cy="569774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6BAC996-2F4C-C5BF-E2B5-15406F3D4F66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5</a:t>
              </a:r>
              <a:endParaRPr lang="zh-CN" altLang="en-US" sz="1200" dirty="0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5550A568-0003-CF1C-3724-AD94D6691DCE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21CC6FA-534A-06F3-514C-8F3768DE8631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29E9C24A-E104-8E44-EC64-D5A723E6479B}"/>
              </a:ext>
            </a:extLst>
          </p:cNvPr>
          <p:cNvGrpSpPr>
            <a:grpSpLocks/>
          </p:cNvGrpSpPr>
          <p:nvPr/>
        </p:nvGrpSpPr>
        <p:grpSpPr>
          <a:xfrm>
            <a:off x="4680338" y="1656946"/>
            <a:ext cx="618856" cy="569774"/>
            <a:chOff x="7086600" y="2037421"/>
            <a:chExt cx="384176" cy="569774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F5C1858-78E8-9D19-94B1-2AA789EFABF3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4</a:t>
              </a:r>
              <a:endParaRPr lang="zh-CN" altLang="en-US" sz="1200" dirty="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D18BCC73-7BB7-15FB-6CC3-0F8AEA1484DE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AF702662-42C3-7951-3FBC-8E11DC171519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54264092-C735-9C00-A40F-37D7F796F353}"/>
              </a:ext>
            </a:extLst>
          </p:cNvPr>
          <p:cNvGrpSpPr>
            <a:grpSpLocks/>
          </p:cNvGrpSpPr>
          <p:nvPr/>
        </p:nvGrpSpPr>
        <p:grpSpPr>
          <a:xfrm>
            <a:off x="4053697" y="1656946"/>
            <a:ext cx="618856" cy="569774"/>
            <a:chOff x="7086600" y="2037421"/>
            <a:chExt cx="384176" cy="569774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7875ACEC-6DB1-E47A-328C-A1CA51113168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3</a:t>
              </a:r>
              <a:endParaRPr lang="zh-CN" altLang="en-US" sz="1200" dirty="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88C79FF2-9B7B-A68D-F9C0-125B0496C07A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E2E383DD-8213-C8F0-C9CF-FF2F22E5E88D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0D2E49C3-5194-4462-063E-B28B0AA4D97D}"/>
              </a:ext>
            </a:extLst>
          </p:cNvPr>
          <p:cNvGrpSpPr>
            <a:grpSpLocks/>
          </p:cNvGrpSpPr>
          <p:nvPr/>
        </p:nvGrpSpPr>
        <p:grpSpPr>
          <a:xfrm>
            <a:off x="3423383" y="1656946"/>
            <a:ext cx="618856" cy="569774"/>
            <a:chOff x="7086600" y="2037421"/>
            <a:chExt cx="384176" cy="569774"/>
          </a:xfrm>
        </p:grpSpPr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D54A7365-3AA8-B2B0-2A89-B1B2C4F2E601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2</a:t>
              </a:r>
              <a:endParaRPr lang="zh-CN" altLang="en-US" sz="1200" dirty="0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A0635EA-FC44-BA17-5DBE-02E6FFE7C7C5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3B07917D-4ACC-3D73-1A79-25AE1FE88A9C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63E95C46-C939-2C8A-516D-637E4D8BF993}"/>
              </a:ext>
            </a:extLst>
          </p:cNvPr>
          <p:cNvGrpSpPr>
            <a:grpSpLocks/>
          </p:cNvGrpSpPr>
          <p:nvPr/>
        </p:nvGrpSpPr>
        <p:grpSpPr>
          <a:xfrm>
            <a:off x="2788150" y="1656946"/>
            <a:ext cx="618856" cy="569774"/>
            <a:chOff x="7086600" y="2037421"/>
            <a:chExt cx="384176" cy="569774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D914C1FE-E17E-4B84-0056-91C8CCA1A14C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1</a:t>
              </a:r>
              <a:endParaRPr lang="zh-CN" altLang="en-US" sz="1200" dirty="0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DE493626-1990-A4A7-C7DD-54DCA27D2B4F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02A9F9BC-E9CE-39E4-59C0-AEB911E28FF2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sp>
        <p:nvSpPr>
          <p:cNvPr id="119" name="箭头: 右 118">
            <a:extLst>
              <a:ext uri="{FF2B5EF4-FFF2-40B4-BE49-F238E27FC236}">
                <a16:creationId xmlns:a16="http://schemas.microsoft.com/office/drawing/2014/main" id="{1CB914B8-A794-A6D7-2AD2-64BCF109BCC4}"/>
              </a:ext>
            </a:extLst>
          </p:cNvPr>
          <p:cNvSpPr>
            <a:spLocks/>
          </p:cNvSpPr>
          <p:nvPr/>
        </p:nvSpPr>
        <p:spPr>
          <a:xfrm>
            <a:off x="1851346" y="4901587"/>
            <a:ext cx="557021" cy="20144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120" name="标题 1">
            <a:extLst>
              <a:ext uri="{FF2B5EF4-FFF2-40B4-BE49-F238E27FC236}">
                <a16:creationId xmlns:a16="http://schemas.microsoft.com/office/drawing/2014/main" id="{145A1B18-0BC7-E8BB-E1E9-6C897386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4526280" cy="419847"/>
          </a:xfrm>
        </p:spPr>
        <p:txBody>
          <a:bodyPr>
            <a:normAutofit fontScale="90000"/>
          </a:bodyPr>
          <a:lstStyle/>
          <a:p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Problem Context &amp; Motivation</a:t>
            </a:r>
            <a:endParaRPr kumimoji="1" lang="zh-CN" altLang="en-US" sz="25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9A34241-BD5D-AB73-F278-E22650ED13CD}"/>
              </a:ext>
            </a:extLst>
          </p:cNvPr>
          <p:cNvGrpSpPr>
            <a:grpSpLocks/>
          </p:cNvGrpSpPr>
          <p:nvPr/>
        </p:nvGrpSpPr>
        <p:grpSpPr>
          <a:xfrm>
            <a:off x="8439943" y="1656946"/>
            <a:ext cx="618856" cy="569774"/>
            <a:chOff x="7086600" y="2037421"/>
            <a:chExt cx="384176" cy="569774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23B705A0-5181-84F4-8417-759A3C0005B8}"/>
                </a:ext>
              </a:extLst>
            </p:cNvPr>
            <p:cNvSpPr>
              <a:spLocks/>
            </p:cNvSpPr>
            <p:nvPr/>
          </p:nvSpPr>
          <p:spPr>
            <a:xfrm>
              <a:off x="7086601" y="2037421"/>
              <a:ext cx="384175" cy="2859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Job 10</a:t>
              </a:r>
              <a:endParaRPr lang="zh-CN" altLang="en-US" sz="120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A9BDD053-C5E9-C690-5204-065AEB9C8CDE}"/>
                </a:ext>
              </a:extLst>
            </p:cNvPr>
            <p:cNvSpPr>
              <a:spLocks/>
            </p:cNvSpPr>
            <p:nvPr/>
          </p:nvSpPr>
          <p:spPr>
            <a:xfrm>
              <a:off x="7086600" y="2323415"/>
              <a:ext cx="196850" cy="2837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03692D3C-0ED9-AEBA-F4E0-0D147BB6F086}"/>
                </a:ext>
              </a:extLst>
            </p:cNvPr>
            <p:cNvSpPr>
              <a:spLocks/>
            </p:cNvSpPr>
            <p:nvPr/>
          </p:nvSpPr>
          <p:spPr>
            <a:xfrm>
              <a:off x="7273925" y="2323415"/>
              <a:ext cx="196850" cy="283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/>
            </a:p>
          </p:txBody>
        </p:sp>
      </p:grpSp>
      <p:sp>
        <p:nvSpPr>
          <p:cNvPr id="139" name="箭头: 右 138">
            <a:extLst>
              <a:ext uri="{FF2B5EF4-FFF2-40B4-BE49-F238E27FC236}">
                <a16:creationId xmlns:a16="http://schemas.microsoft.com/office/drawing/2014/main" id="{934C2719-82A5-1995-152A-FCBE45CA0E28}"/>
              </a:ext>
            </a:extLst>
          </p:cNvPr>
          <p:cNvSpPr>
            <a:spLocks/>
          </p:cNvSpPr>
          <p:nvPr/>
        </p:nvSpPr>
        <p:spPr>
          <a:xfrm rot="5400000">
            <a:off x="5701965" y="2833062"/>
            <a:ext cx="788068" cy="114256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 </a:t>
            </a:r>
            <a:r>
              <a:rPr lang="en-US" altLang="zh-CN" sz="3200" b="1">
                <a:solidFill>
                  <a:schemeClr val="accent1"/>
                </a:solidFill>
              </a:rPr>
              <a:t> 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C55325FD-A84F-DF9E-A4E5-59AB069D5B7B}"/>
              </a:ext>
            </a:extLst>
          </p:cNvPr>
          <p:cNvSpPr txBox="1"/>
          <p:nvPr/>
        </p:nvSpPr>
        <p:spPr>
          <a:xfrm>
            <a:off x="5221522" y="3215961"/>
            <a:ext cx="18870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Disruptions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30F7F69-6903-E44C-AF34-6BBE4D239144}"/>
              </a:ext>
            </a:extLst>
          </p:cNvPr>
          <p:cNvSpPr>
            <a:spLocks/>
          </p:cNvSpPr>
          <p:nvPr/>
        </p:nvSpPr>
        <p:spPr>
          <a:xfrm>
            <a:off x="8506976" y="4684368"/>
            <a:ext cx="755294" cy="608545"/>
          </a:xfrm>
          <a:custGeom>
            <a:avLst/>
            <a:gdLst>
              <a:gd name="connsiteX0" fmla="*/ 0 w 755294"/>
              <a:gd name="connsiteY0" fmla="*/ 0 h 608545"/>
              <a:gd name="connsiteX1" fmla="*/ 370094 w 755294"/>
              <a:gd name="connsiteY1" fmla="*/ 0 h 608545"/>
              <a:gd name="connsiteX2" fmla="*/ 755294 w 755294"/>
              <a:gd name="connsiteY2" fmla="*/ 0 h 608545"/>
              <a:gd name="connsiteX3" fmla="*/ 755294 w 755294"/>
              <a:gd name="connsiteY3" fmla="*/ 298187 h 608545"/>
              <a:gd name="connsiteX4" fmla="*/ 755294 w 755294"/>
              <a:gd name="connsiteY4" fmla="*/ 608545 h 608545"/>
              <a:gd name="connsiteX5" fmla="*/ 370094 w 755294"/>
              <a:gd name="connsiteY5" fmla="*/ 608545 h 608545"/>
              <a:gd name="connsiteX6" fmla="*/ 0 w 755294"/>
              <a:gd name="connsiteY6" fmla="*/ 608545 h 608545"/>
              <a:gd name="connsiteX7" fmla="*/ 0 w 755294"/>
              <a:gd name="connsiteY7" fmla="*/ 292102 h 608545"/>
              <a:gd name="connsiteX8" fmla="*/ 0 w 755294"/>
              <a:gd name="connsiteY8" fmla="*/ 0 h 60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5294" h="608545" extrusionOk="0">
                <a:moveTo>
                  <a:pt x="0" y="0"/>
                </a:moveTo>
                <a:cubicBezTo>
                  <a:pt x="125659" y="-9035"/>
                  <a:pt x="251174" y="166"/>
                  <a:pt x="370094" y="0"/>
                </a:cubicBezTo>
                <a:cubicBezTo>
                  <a:pt x="489014" y="-166"/>
                  <a:pt x="671733" y="34220"/>
                  <a:pt x="755294" y="0"/>
                </a:cubicBezTo>
                <a:cubicBezTo>
                  <a:pt x="781221" y="107494"/>
                  <a:pt x="751851" y="221052"/>
                  <a:pt x="755294" y="298187"/>
                </a:cubicBezTo>
                <a:cubicBezTo>
                  <a:pt x="758737" y="375322"/>
                  <a:pt x="720847" y="476494"/>
                  <a:pt x="755294" y="608545"/>
                </a:cubicBezTo>
                <a:cubicBezTo>
                  <a:pt x="677561" y="642653"/>
                  <a:pt x="507593" y="605822"/>
                  <a:pt x="370094" y="608545"/>
                </a:cubicBezTo>
                <a:cubicBezTo>
                  <a:pt x="232595" y="611268"/>
                  <a:pt x="150890" y="581639"/>
                  <a:pt x="0" y="608545"/>
                </a:cubicBezTo>
                <a:cubicBezTo>
                  <a:pt x="-36287" y="541666"/>
                  <a:pt x="36133" y="422173"/>
                  <a:pt x="0" y="292102"/>
                </a:cubicBezTo>
                <a:cubicBezTo>
                  <a:pt x="-36133" y="162031"/>
                  <a:pt x="35035" y="11955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8418723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Job 10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04" name="箭头: 右 203">
            <a:extLst>
              <a:ext uri="{FF2B5EF4-FFF2-40B4-BE49-F238E27FC236}">
                <a16:creationId xmlns:a16="http://schemas.microsoft.com/office/drawing/2014/main" id="{914A1C90-C6E2-6633-8788-5C9256D93D4A}"/>
              </a:ext>
            </a:extLst>
          </p:cNvPr>
          <p:cNvSpPr>
            <a:spLocks/>
          </p:cNvSpPr>
          <p:nvPr/>
        </p:nvSpPr>
        <p:spPr>
          <a:xfrm>
            <a:off x="9640659" y="4861259"/>
            <a:ext cx="557021" cy="20144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0320DC89-8692-E99A-A055-86451D63E869}"/>
              </a:ext>
            </a:extLst>
          </p:cNvPr>
          <p:cNvGrpSpPr/>
          <p:nvPr/>
        </p:nvGrpSpPr>
        <p:grpSpPr>
          <a:xfrm>
            <a:off x="9776607" y="4853650"/>
            <a:ext cx="225830" cy="201440"/>
            <a:chOff x="3311700" y="5536555"/>
            <a:chExt cx="382356" cy="355963"/>
          </a:xfrm>
        </p:grpSpPr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60013425-3E0A-AD54-682B-2569D35D67C1}"/>
                </a:ext>
              </a:extLst>
            </p:cNvPr>
            <p:cNvSpPr/>
            <p:nvPr/>
          </p:nvSpPr>
          <p:spPr>
            <a:xfrm>
              <a:off x="3311700" y="5536555"/>
              <a:ext cx="382356" cy="35596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pic>
          <p:nvPicPr>
            <p:cNvPr id="177" name="图形 176" descr="关闭 纯色填充">
              <a:extLst>
                <a:ext uri="{FF2B5EF4-FFF2-40B4-BE49-F238E27FC236}">
                  <a16:creationId xmlns:a16="http://schemas.microsoft.com/office/drawing/2014/main" id="{3578F59B-6E97-5966-A27E-46CFF7AD5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38687" y="5550345"/>
              <a:ext cx="328381" cy="328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404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6988B-2FF2-D40B-54C4-E4C97CE7E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861551"/>
            <a:ext cx="9539037" cy="1134898"/>
          </a:xfrm>
        </p:spPr>
        <p:txBody>
          <a:bodyPr>
            <a:normAutofit fontScale="90000"/>
          </a:bodyPr>
          <a:lstStyle/>
          <a:p>
            <a:pPr defTabSz="912813" eaLnBrk="0" fontAlgn="base" latinLnBrk="1" hangingPunct="0">
              <a:lnSpc>
                <a:spcPct val="130000"/>
              </a:lnSpc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How can we create a schedule that is robust enough to absorb these </a:t>
            </a:r>
            <a:br>
              <a:rPr kumimoji="1" lang="en-US" altLang="zh-CN" sz="28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</a:br>
            <a:r>
              <a:rPr kumimoji="1" lang="en-US" altLang="zh-CN" sz="28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red spikes without creating gridlock?</a:t>
            </a:r>
            <a:endParaRPr kumimoji="1" lang="zh-CN" altLang="en-US" sz="28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96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1285E6DE-64F4-0219-B2CE-5C3C1FE02F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24802" y="3543298"/>
            <a:ext cx="5468353" cy="2809376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FB4B8-9E22-76A4-FC68-E19D989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8533590" cy="419847"/>
          </a:xfrm>
        </p:spPr>
        <p:txBody>
          <a:bodyPr>
            <a:normAutofit fontScale="90000"/>
          </a:bodyPr>
          <a:lstStyle/>
          <a:p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Mathematical Internalization &amp; Budgeting</a:t>
            </a:r>
            <a:endParaRPr kumimoji="1" lang="zh-CN" altLang="en-US" sz="25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885A3C0-8F01-3525-C65D-026E86C1F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1184" y="842554"/>
            <a:ext cx="5468353" cy="5510120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724D6B6-75CD-F7E6-D881-7A24A7F312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195129" y="842555"/>
                <a:ext cx="5498026" cy="2586445"/>
              </a:xfrm>
              <a:prstGeom prst="roundRect">
                <a:avLst>
                  <a:gd name="adj" fmla="val 3484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i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p’</a:t>
                </a:r>
                <a:r>
                  <a:rPr lang="en-US" altLang="zh-CN" sz="2400" i="1" baseline="-25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zh-CN" sz="2400" i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 = </a:t>
                </a:r>
                <a:r>
                  <a:rPr kumimoji="0" lang="zh-CN" altLang="zh-CN" sz="2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𝜇</a:t>
                </a:r>
                <a:r>
                  <a:rPr kumimoji="0" lang="en-US" altLang="zh-CN" sz="2400" i="1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A, </a:t>
                </a:r>
                <a:r>
                  <a:rPr lang="en-US" altLang="zh-CN" sz="24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zh-CN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+ </a:t>
                </a:r>
                <a:r>
                  <a:rPr kumimoji="0" lang="zh-CN" altLang="zh-CN" sz="2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𝜇</a:t>
                </a:r>
                <a:r>
                  <a:rPr lang="en-US" altLang="zh-CN" sz="2400" i="1" baseline="-250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kumimoji="0" lang="en-US" altLang="zh-CN" sz="2400" i="1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altLang="zh-CN" sz="24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zh-CN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+ k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l-GR" altLang="zh-CN" sz="2400" i="1" dirty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CN" sz="2400" b="0" i="1" baseline="30000" dirty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l-GR" altLang="zh-CN" sz="2400" i="1" dirty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en-US" altLang="zh-CN" sz="2400" b="0" i="1" baseline="30000" dirty="0" smtClean="0"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24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724D6B6-75CD-F7E6-D881-7A24A7F31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129" y="842555"/>
                <a:ext cx="5498026" cy="2586445"/>
              </a:xfrm>
              <a:prstGeom prst="roundRect">
                <a:avLst>
                  <a:gd name="adj" fmla="val 3484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图形 52">
            <a:extLst>
              <a:ext uri="{FF2B5EF4-FFF2-40B4-BE49-F238E27FC236}">
                <a16:creationId xmlns:a16="http://schemas.microsoft.com/office/drawing/2014/main" id="{4C1F12F7-1094-6E6D-5473-83AD4FCC2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9125" y="3449783"/>
            <a:ext cx="354323" cy="354323"/>
          </a:xfrm>
          <a:prstGeom prst="rect">
            <a:avLst/>
          </a:prstGeom>
        </p:spPr>
      </p:pic>
      <p:pic>
        <p:nvPicPr>
          <p:cNvPr id="81" name="图形 80">
            <a:extLst>
              <a:ext uri="{FF2B5EF4-FFF2-40B4-BE49-F238E27FC236}">
                <a16:creationId xmlns:a16="http://schemas.microsoft.com/office/drawing/2014/main" id="{5D13FB38-03FD-DE42-F057-273E45975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8930" y="3451486"/>
            <a:ext cx="298102" cy="298102"/>
          </a:xfrm>
          <a:prstGeom prst="rect">
            <a:avLst/>
          </a:prstGeom>
        </p:spPr>
      </p:pic>
      <p:pic>
        <p:nvPicPr>
          <p:cNvPr id="85" name="图形 84">
            <a:extLst>
              <a:ext uri="{FF2B5EF4-FFF2-40B4-BE49-F238E27FC236}">
                <a16:creationId xmlns:a16="http://schemas.microsoft.com/office/drawing/2014/main" id="{7DDBD793-9DA8-5A9E-56D7-498ECB4D7A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3435" y="3451958"/>
            <a:ext cx="303589" cy="303589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A9530106-9C86-546C-97F0-C039EAB2CD37}"/>
              </a:ext>
            </a:extLst>
          </p:cNvPr>
          <p:cNvSpPr txBox="1"/>
          <p:nvPr/>
        </p:nvSpPr>
        <p:spPr>
          <a:xfrm>
            <a:off x="583354" y="904013"/>
            <a:ext cx="5118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Internalizing Aggregated Risks into “Robust Items”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E9847EB-97F2-54F2-F061-36DAC41C383D}"/>
              </a:ext>
            </a:extLst>
          </p:cNvPr>
          <p:cNvSpPr txBox="1"/>
          <p:nvPr/>
        </p:nvSpPr>
        <p:spPr>
          <a:xfrm>
            <a:off x="6384836" y="904013"/>
            <a:ext cx="51186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Abstraction</a:t>
            </a:r>
          </a:p>
          <a:p>
            <a:pPr algn="ctr"/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Item Volume Formula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DC389F0-B3ED-B4E4-D831-7CD825F9C8B6}"/>
              </a:ext>
            </a:extLst>
          </p:cNvPr>
          <p:cNvSpPr txBox="1"/>
          <p:nvPr/>
        </p:nvSpPr>
        <p:spPr>
          <a:xfrm>
            <a:off x="8232070" y="3635724"/>
            <a:ext cx="3388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-factor Budget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ED51A2-8FC2-C1D1-29C0-33DECFE5D502}"/>
              </a:ext>
            </a:extLst>
          </p:cNvPr>
          <p:cNvSpPr/>
          <p:nvPr/>
        </p:nvSpPr>
        <p:spPr>
          <a:xfrm>
            <a:off x="1772938" y="1555353"/>
            <a:ext cx="1105848" cy="108228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B: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Riveting (M)</a:t>
            </a:r>
          </a:p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DBA730-4C76-43C6-B68A-4DAA1796ECE8}"/>
              </a:ext>
            </a:extLst>
          </p:cNvPr>
          <p:cNvSpPr/>
          <p:nvPr/>
        </p:nvSpPr>
        <p:spPr>
          <a:xfrm>
            <a:off x="680814" y="1559358"/>
            <a:ext cx="1105848" cy="10822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A: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Harness Alignment (H)</a:t>
            </a:r>
          </a:p>
          <a:p>
            <a:pPr algn="ctr"/>
            <a:endParaRPr lang="zh-CN" altLang="en-US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CE58523-7D5F-A91C-E236-C4AC64CCDFE8}"/>
              </a:ext>
            </a:extLst>
          </p:cNvPr>
          <p:cNvCxnSpPr>
            <a:cxnSpLocks/>
          </p:cNvCxnSpPr>
          <p:nvPr/>
        </p:nvCxnSpPr>
        <p:spPr>
          <a:xfrm>
            <a:off x="2878786" y="2098515"/>
            <a:ext cx="1451827" cy="947461"/>
          </a:xfrm>
          <a:prstGeom prst="bentConnector3">
            <a:avLst>
              <a:gd name="adj1" fmla="val 9984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33224D42-6C8C-2C7D-1E28-8A804274655A}"/>
              </a:ext>
            </a:extLst>
          </p:cNvPr>
          <p:cNvSpPr txBox="1"/>
          <p:nvPr/>
        </p:nvSpPr>
        <p:spPr>
          <a:xfrm>
            <a:off x="3098605" y="2384982"/>
            <a:ext cx="232804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INTERNALIZING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CAF149C-4590-3693-9CCB-4AFEC0AB80E6}"/>
              </a:ext>
            </a:extLst>
          </p:cNvPr>
          <p:cNvSpPr txBox="1"/>
          <p:nvPr/>
        </p:nvSpPr>
        <p:spPr>
          <a:xfrm>
            <a:off x="680814" y="2738200"/>
            <a:ext cx="232804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Job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EEAA528-EF79-AB82-8456-107221920F9E}"/>
              </a:ext>
            </a:extLst>
          </p:cNvPr>
          <p:cNvSpPr/>
          <p:nvPr/>
        </p:nvSpPr>
        <p:spPr>
          <a:xfrm>
            <a:off x="678234" y="4077327"/>
            <a:ext cx="1105848" cy="10822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A: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Harness Alignment (H)</a:t>
            </a:r>
          </a:p>
          <a:p>
            <a:pPr algn="ctr"/>
            <a:endParaRPr lang="zh-CN" altLang="en-US" dirty="0"/>
          </a:p>
        </p:txBody>
      </p:sp>
      <p:pic>
        <p:nvPicPr>
          <p:cNvPr id="78" name="图形 77" descr="关闭 纯色填充">
            <a:extLst>
              <a:ext uri="{FF2B5EF4-FFF2-40B4-BE49-F238E27FC236}">
                <a16:creationId xmlns:a16="http://schemas.microsoft.com/office/drawing/2014/main" id="{BB6E4016-B40D-C557-FAD0-433621D05B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7909" y="3600537"/>
            <a:ext cx="182223" cy="180248"/>
          </a:xfrm>
          <a:prstGeom prst="rect">
            <a:avLst/>
          </a:prstGeom>
        </p:spPr>
      </p:pic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5A3D4166-3C81-D72D-44AE-091B0A3EC731}"/>
              </a:ext>
            </a:extLst>
          </p:cNvPr>
          <p:cNvSpPr/>
          <p:nvPr/>
        </p:nvSpPr>
        <p:spPr>
          <a:xfrm>
            <a:off x="2858012" y="3820212"/>
            <a:ext cx="2670837" cy="1348576"/>
          </a:xfrm>
          <a:custGeom>
            <a:avLst/>
            <a:gdLst>
              <a:gd name="connsiteX0" fmla="*/ 0 w 2670837"/>
              <a:gd name="connsiteY0" fmla="*/ 368391 h 1348576"/>
              <a:gd name="connsiteX1" fmla="*/ 124990 w 2670837"/>
              <a:gd name="connsiteY1" fmla="*/ 171039 h 1348576"/>
              <a:gd name="connsiteX2" fmla="*/ 230244 w 2670837"/>
              <a:gd name="connsiteY2" fmla="*/ 618371 h 1348576"/>
              <a:gd name="connsiteX3" fmla="*/ 374969 w 2670837"/>
              <a:gd name="connsiteY3" fmla="*/ 32892 h 1348576"/>
              <a:gd name="connsiteX4" fmla="*/ 585479 w 2670837"/>
              <a:gd name="connsiteY4" fmla="*/ 881508 h 1348576"/>
              <a:gd name="connsiteX5" fmla="*/ 749939 w 2670837"/>
              <a:gd name="connsiteY5" fmla="*/ 328921 h 1348576"/>
              <a:gd name="connsiteX6" fmla="*/ 855194 w 2670837"/>
              <a:gd name="connsiteY6" fmla="*/ 513117 h 1348576"/>
              <a:gd name="connsiteX7" fmla="*/ 842037 w 2670837"/>
              <a:gd name="connsiteY7" fmla="*/ 223666 h 1348576"/>
              <a:gd name="connsiteX8" fmla="*/ 1006498 w 2670837"/>
              <a:gd name="connsiteY8" fmla="*/ 697312 h 1348576"/>
              <a:gd name="connsiteX9" fmla="*/ 1111752 w 2670837"/>
              <a:gd name="connsiteY9" fmla="*/ 269715 h 1348576"/>
              <a:gd name="connsiteX10" fmla="*/ 1210428 w 2670837"/>
              <a:gd name="connsiteY10" fmla="*/ 697312 h 1348576"/>
              <a:gd name="connsiteX11" fmla="*/ 1723545 w 2670837"/>
              <a:gd name="connsiteY11" fmla="*/ 0 h 1348576"/>
              <a:gd name="connsiteX12" fmla="*/ 1730123 w 2670837"/>
              <a:gd name="connsiteY12" fmla="*/ 532852 h 1348576"/>
              <a:gd name="connsiteX13" fmla="*/ 1789329 w 2670837"/>
              <a:gd name="connsiteY13" fmla="*/ 381548 h 1348576"/>
              <a:gd name="connsiteX14" fmla="*/ 1868270 w 2670837"/>
              <a:gd name="connsiteY14" fmla="*/ 657842 h 1348576"/>
              <a:gd name="connsiteX15" fmla="*/ 1980103 w 2670837"/>
              <a:gd name="connsiteY15" fmla="*/ 467068 h 1348576"/>
              <a:gd name="connsiteX16" fmla="*/ 2039309 w 2670837"/>
              <a:gd name="connsiteY16" fmla="*/ 611793 h 1348576"/>
              <a:gd name="connsiteX17" fmla="*/ 2249818 w 2670837"/>
              <a:gd name="connsiteY17" fmla="*/ 105255 h 1348576"/>
              <a:gd name="connsiteX18" fmla="*/ 2453749 w 2670837"/>
              <a:gd name="connsiteY18" fmla="*/ 526273 h 1348576"/>
              <a:gd name="connsiteX19" fmla="*/ 2578739 w 2670837"/>
              <a:gd name="connsiteY19" fmla="*/ 861773 h 1348576"/>
              <a:gd name="connsiteX20" fmla="*/ 2611631 w 2670837"/>
              <a:gd name="connsiteY20" fmla="*/ 730204 h 1348576"/>
              <a:gd name="connsiteX21" fmla="*/ 2670837 w 2670837"/>
              <a:gd name="connsiteY21" fmla="*/ 565744 h 1348576"/>
              <a:gd name="connsiteX22" fmla="*/ 2644523 w 2670837"/>
              <a:gd name="connsiteY22" fmla="*/ 1151223 h 1348576"/>
              <a:gd name="connsiteX23" fmla="*/ 2519533 w 2670837"/>
              <a:gd name="connsiteY23" fmla="*/ 1026233 h 1348576"/>
              <a:gd name="connsiteX24" fmla="*/ 2361651 w 2670837"/>
              <a:gd name="connsiteY24" fmla="*/ 1341997 h 1348576"/>
              <a:gd name="connsiteX25" fmla="*/ 2309024 w 2670837"/>
              <a:gd name="connsiteY25" fmla="*/ 644685 h 1348576"/>
              <a:gd name="connsiteX26" fmla="*/ 2085358 w 2670837"/>
              <a:gd name="connsiteY26" fmla="*/ 914400 h 1348576"/>
              <a:gd name="connsiteX27" fmla="*/ 1986682 w 2670837"/>
              <a:gd name="connsiteY27" fmla="*/ 717047 h 1348576"/>
              <a:gd name="connsiteX28" fmla="*/ 1868270 w 2670837"/>
              <a:gd name="connsiteY28" fmla="*/ 1276213 h 1348576"/>
              <a:gd name="connsiteX29" fmla="*/ 1802486 w 2670837"/>
              <a:gd name="connsiteY29" fmla="*/ 907822 h 1348576"/>
              <a:gd name="connsiteX30" fmla="*/ 1585398 w 2670837"/>
              <a:gd name="connsiteY30" fmla="*/ 1348576 h 1348576"/>
              <a:gd name="connsiteX31" fmla="*/ 1591977 w 2670837"/>
              <a:gd name="connsiteY31" fmla="*/ 657842 h 1348576"/>
              <a:gd name="connsiteX32" fmla="*/ 1486722 w 2670837"/>
              <a:gd name="connsiteY32" fmla="*/ 920978 h 1348576"/>
              <a:gd name="connsiteX33" fmla="*/ 1401203 w 2670837"/>
              <a:gd name="connsiteY33" fmla="*/ 861773 h 1348576"/>
              <a:gd name="connsiteX34" fmla="*/ 1374889 w 2670837"/>
              <a:gd name="connsiteY34" fmla="*/ 1256478 h 1348576"/>
              <a:gd name="connsiteX35" fmla="*/ 1230164 w 2670837"/>
              <a:gd name="connsiteY35" fmla="*/ 828881 h 1348576"/>
              <a:gd name="connsiteX36" fmla="*/ 1105174 w 2670837"/>
              <a:gd name="connsiteY36" fmla="*/ 1118331 h 1348576"/>
              <a:gd name="connsiteX37" fmla="*/ 986762 w 2670837"/>
              <a:gd name="connsiteY37" fmla="*/ 940714 h 1348576"/>
              <a:gd name="connsiteX38" fmla="*/ 848616 w 2670837"/>
              <a:gd name="connsiteY38" fmla="*/ 1217007 h 1348576"/>
              <a:gd name="connsiteX39" fmla="*/ 848616 w 2670837"/>
              <a:gd name="connsiteY39" fmla="*/ 710469 h 1348576"/>
              <a:gd name="connsiteX40" fmla="*/ 644685 w 2670837"/>
              <a:gd name="connsiteY40" fmla="*/ 1151223 h 1348576"/>
              <a:gd name="connsiteX41" fmla="*/ 585479 w 2670837"/>
              <a:gd name="connsiteY41" fmla="*/ 1039390 h 1348576"/>
              <a:gd name="connsiteX42" fmla="*/ 578900 w 2670837"/>
              <a:gd name="connsiteY42" fmla="*/ 1328840 h 1348576"/>
              <a:gd name="connsiteX43" fmla="*/ 467067 w 2670837"/>
              <a:gd name="connsiteY43" fmla="*/ 1085439 h 1348576"/>
              <a:gd name="connsiteX44" fmla="*/ 361813 w 2670837"/>
              <a:gd name="connsiteY44" fmla="*/ 1276213 h 1348576"/>
              <a:gd name="connsiteX45" fmla="*/ 282872 w 2670837"/>
              <a:gd name="connsiteY45" fmla="*/ 1019655 h 1348576"/>
              <a:gd name="connsiteX46" fmla="*/ 190774 w 2670837"/>
              <a:gd name="connsiteY46" fmla="*/ 1309105 h 1348576"/>
              <a:gd name="connsiteX47" fmla="*/ 13157 w 2670837"/>
              <a:gd name="connsiteY47" fmla="*/ 1144645 h 1348576"/>
              <a:gd name="connsiteX48" fmla="*/ 0 w 2670837"/>
              <a:gd name="connsiteY48" fmla="*/ 368391 h 13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670837" h="1348576">
                <a:moveTo>
                  <a:pt x="0" y="368391"/>
                </a:moveTo>
                <a:lnTo>
                  <a:pt x="124990" y="171039"/>
                </a:lnTo>
                <a:lnTo>
                  <a:pt x="230244" y="618371"/>
                </a:lnTo>
                <a:lnTo>
                  <a:pt x="374969" y="32892"/>
                </a:lnTo>
                <a:lnTo>
                  <a:pt x="585479" y="881508"/>
                </a:lnTo>
                <a:lnTo>
                  <a:pt x="749939" y="328921"/>
                </a:lnTo>
                <a:lnTo>
                  <a:pt x="855194" y="513117"/>
                </a:lnTo>
                <a:lnTo>
                  <a:pt x="842037" y="223666"/>
                </a:lnTo>
                <a:lnTo>
                  <a:pt x="1006498" y="697312"/>
                </a:lnTo>
                <a:lnTo>
                  <a:pt x="1111752" y="269715"/>
                </a:lnTo>
                <a:lnTo>
                  <a:pt x="1210428" y="697312"/>
                </a:lnTo>
                <a:lnTo>
                  <a:pt x="1723545" y="0"/>
                </a:lnTo>
                <a:cubicBezTo>
                  <a:pt x="1725738" y="177617"/>
                  <a:pt x="1727930" y="355235"/>
                  <a:pt x="1730123" y="532852"/>
                </a:cubicBezTo>
                <a:lnTo>
                  <a:pt x="1789329" y="381548"/>
                </a:lnTo>
                <a:lnTo>
                  <a:pt x="1868270" y="657842"/>
                </a:lnTo>
                <a:lnTo>
                  <a:pt x="1980103" y="467068"/>
                </a:lnTo>
                <a:lnTo>
                  <a:pt x="2039309" y="611793"/>
                </a:lnTo>
                <a:lnTo>
                  <a:pt x="2249818" y="105255"/>
                </a:lnTo>
                <a:lnTo>
                  <a:pt x="2453749" y="526273"/>
                </a:lnTo>
                <a:lnTo>
                  <a:pt x="2578739" y="861773"/>
                </a:lnTo>
                <a:lnTo>
                  <a:pt x="2611631" y="730204"/>
                </a:lnTo>
                <a:lnTo>
                  <a:pt x="2670837" y="565744"/>
                </a:lnTo>
                <a:lnTo>
                  <a:pt x="2644523" y="1151223"/>
                </a:lnTo>
                <a:lnTo>
                  <a:pt x="2519533" y="1026233"/>
                </a:lnTo>
                <a:lnTo>
                  <a:pt x="2361651" y="1341997"/>
                </a:lnTo>
                <a:lnTo>
                  <a:pt x="2309024" y="644685"/>
                </a:lnTo>
                <a:lnTo>
                  <a:pt x="2085358" y="914400"/>
                </a:lnTo>
                <a:lnTo>
                  <a:pt x="1986682" y="717047"/>
                </a:lnTo>
                <a:lnTo>
                  <a:pt x="1868270" y="1276213"/>
                </a:lnTo>
                <a:lnTo>
                  <a:pt x="1802486" y="907822"/>
                </a:lnTo>
                <a:lnTo>
                  <a:pt x="1585398" y="1348576"/>
                </a:lnTo>
                <a:lnTo>
                  <a:pt x="1591977" y="657842"/>
                </a:lnTo>
                <a:lnTo>
                  <a:pt x="1486722" y="920978"/>
                </a:lnTo>
                <a:lnTo>
                  <a:pt x="1401203" y="861773"/>
                </a:lnTo>
                <a:lnTo>
                  <a:pt x="1374889" y="1256478"/>
                </a:lnTo>
                <a:lnTo>
                  <a:pt x="1230164" y="828881"/>
                </a:lnTo>
                <a:lnTo>
                  <a:pt x="1105174" y="1118331"/>
                </a:lnTo>
                <a:lnTo>
                  <a:pt x="986762" y="940714"/>
                </a:lnTo>
                <a:lnTo>
                  <a:pt x="848616" y="1217007"/>
                </a:lnTo>
                <a:lnTo>
                  <a:pt x="848616" y="710469"/>
                </a:lnTo>
                <a:lnTo>
                  <a:pt x="644685" y="1151223"/>
                </a:lnTo>
                <a:lnTo>
                  <a:pt x="585479" y="1039390"/>
                </a:lnTo>
                <a:lnTo>
                  <a:pt x="578900" y="1328840"/>
                </a:lnTo>
                <a:lnTo>
                  <a:pt x="467067" y="1085439"/>
                </a:lnTo>
                <a:lnTo>
                  <a:pt x="361813" y="1276213"/>
                </a:lnTo>
                <a:lnTo>
                  <a:pt x="282872" y="1019655"/>
                </a:lnTo>
                <a:lnTo>
                  <a:pt x="190774" y="1309105"/>
                </a:lnTo>
                <a:lnTo>
                  <a:pt x="13157" y="1144645"/>
                </a:lnTo>
                <a:lnTo>
                  <a:pt x="0" y="368391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B4C5AA9-F10C-8EBD-03CB-A5127F99170D}"/>
              </a:ext>
            </a:extLst>
          </p:cNvPr>
          <p:cNvSpPr txBox="1"/>
          <p:nvPr/>
        </p:nvSpPr>
        <p:spPr>
          <a:xfrm>
            <a:off x="2731983" y="5250020"/>
            <a:ext cx="269466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Stochastic Jitter 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l-GR" altLang="zh-CN" sz="1200" i="1" dirty="0">
                <a:effectLst/>
                <a:latin typeface="Arial" panose="020B0604020202020204" pitchFamily="34" charset="0"/>
              </a:rPr>
              <a:t>σ</a:t>
            </a:r>
            <a:r>
              <a:rPr lang="en-US" altLang="zh-CN" sz="1200" i="1" baseline="-25000" dirty="0">
                <a:effectLst/>
                <a:latin typeface="Arial" panose="020B0604020202020204" pitchFamily="34" charset="0"/>
              </a:rPr>
              <a:t>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90AE828-E50F-8CF0-F88B-1B218F70F4B3}"/>
              </a:ext>
            </a:extLst>
          </p:cNvPr>
          <p:cNvSpPr/>
          <p:nvPr/>
        </p:nvSpPr>
        <p:spPr>
          <a:xfrm>
            <a:off x="1770358" y="4073322"/>
            <a:ext cx="1105848" cy="108228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B: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Riveting (M)</a:t>
            </a:r>
          </a:p>
          <a:p>
            <a:pPr algn="ctr"/>
            <a:endParaRPr lang="zh-CN" altLang="en-US" dirty="0"/>
          </a:p>
        </p:txBody>
      </p:sp>
      <p:sp>
        <p:nvSpPr>
          <p:cNvPr id="88" name="左大括号 87">
            <a:extLst>
              <a:ext uri="{FF2B5EF4-FFF2-40B4-BE49-F238E27FC236}">
                <a16:creationId xmlns:a16="http://schemas.microsoft.com/office/drawing/2014/main" id="{E6A3DDBB-288A-C350-E2BE-4E75493D558C}"/>
              </a:ext>
            </a:extLst>
          </p:cNvPr>
          <p:cNvSpPr/>
          <p:nvPr/>
        </p:nvSpPr>
        <p:spPr>
          <a:xfrm rot="5400000">
            <a:off x="1680928" y="2778405"/>
            <a:ext cx="213851" cy="220097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9AEB5D8-D11E-2184-D35D-D90131688677}"/>
              </a:ext>
            </a:extLst>
          </p:cNvPr>
          <p:cNvSpPr txBox="1"/>
          <p:nvPr/>
        </p:nvSpPr>
        <p:spPr>
          <a:xfrm>
            <a:off x="460741" y="3454941"/>
            <a:ext cx="269466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Process Time (</a:t>
            </a:r>
            <a:r>
              <a:rPr kumimoji="0" lang="zh-CN" altLang="zh-CN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𝜇</a:t>
            </a:r>
            <a:r>
              <a:rPr lang="en-US" altLang="zh-CN" sz="1200" i="1" baseline="-25000" dirty="0">
                <a:effectLst/>
                <a:latin typeface="Arial" panose="020B0604020202020204" pitchFamily="34" charset="0"/>
              </a:rPr>
              <a:t>j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BBA179C-A34F-2620-EB1A-664A4F5E4326}"/>
              </a:ext>
            </a:extLst>
          </p:cNvPr>
          <p:cNvSpPr txBox="1"/>
          <p:nvPr/>
        </p:nvSpPr>
        <p:spPr>
          <a:xfrm>
            <a:off x="687366" y="5566258"/>
            <a:ext cx="502415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Item Definition (</a:t>
            </a:r>
            <a:r>
              <a:rPr lang="en-US" altLang="zh-CN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400" b="0" i="1" dirty="0" err="1">
                <a:effectLst/>
                <a:latin typeface="Arial" panose="020B0604020202020204" pitchFamily="34" charset="0"/>
              </a:rPr>
              <a:t>′</a:t>
            </a:r>
            <a:r>
              <a:rPr lang="en-US" altLang="zh-CN" sz="1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94EA86D-50EA-0F7D-500A-B73B2F5481D0}"/>
              </a:ext>
            </a:extLst>
          </p:cNvPr>
          <p:cNvSpPr txBox="1"/>
          <p:nvPr/>
        </p:nvSpPr>
        <p:spPr>
          <a:xfrm>
            <a:off x="7081290" y="2731732"/>
            <a:ext cx="92797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A </a:t>
            </a:r>
            <a:r>
              <a:rPr kumimoji="0" lang="zh-CN" altLang="zh-CN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𝜇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ACB9482-21F5-721F-9D50-8F471C7CFF48}"/>
              </a:ext>
            </a:extLst>
          </p:cNvPr>
          <p:cNvSpPr txBox="1"/>
          <p:nvPr/>
        </p:nvSpPr>
        <p:spPr>
          <a:xfrm>
            <a:off x="8056804" y="2740744"/>
            <a:ext cx="92797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B </a:t>
            </a:r>
            <a:r>
              <a:rPr kumimoji="0" lang="zh-CN" altLang="zh-CN" sz="10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𝜇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30459D71-BA49-CF38-7386-64CB07F3AFCC}"/>
                  </a:ext>
                </a:extLst>
              </p:cNvPr>
              <p:cNvSpPr txBox="1"/>
              <p:nvPr/>
            </p:nvSpPr>
            <p:spPr>
              <a:xfrm>
                <a:off x="9216896" y="2674820"/>
                <a:ext cx="927970" cy="565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05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en-US" altLang="zh-CN" sz="1050" b="0" i="1" dirty="0" smtClean="0">
                        <a:latin typeface="Cambria Math" panose="02040503050406030204" pitchFamily="18" charset="0"/>
                      </a:rPr>
                      <m:t>uman</m:t>
                    </m:r>
                    <m:r>
                      <m:rPr>
                        <m:nor/>
                      </m:rPr>
                      <a:rPr lang="en-US" altLang="zh-CN" sz="105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050" b="0" i="1" dirty="0" smtClean="0">
                        <a:latin typeface="Cambria Math" panose="02040503050406030204" pitchFamily="18" charset="0"/>
                      </a:rPr>
                      <m:t>Variability</m:t>
                    </m:r>
                    <m:r>
                      <m:rPr>
                        <m:nor/>
                      </m:rPr>
                      <a:rPr lang="en-US" altLang="zh-CN" sz="1050" b="0" i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zh-CN" sz="1050" i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σ</m:t>
                    </m:r>
                  </m:oMath>
                </a14:m>
                <a:r>
                  <a:rPr lang="en-US" altLang="zh-CN" sz="105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endParaRPr lang="zh-CN" altLang="en-US" sz="105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30459D71-BA49-CF38-7386-64CB07F3A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896" y="2674820"/>
                <a:ext cx="927970" cy="565924"/>
              </a:xfrm>
              <a:prstGeom prst="rect">
                <a:avLst/>
              </a:prstGeom>
              <a:blipFill>
                <a:blip r:embed="rId11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44C82A3-905A-4C26-152A-A0D31EC4F912}"/>
                  </a:ext>
                </a:extLst>
              </p:cNvPr>
              <p:cNvSpPr txBox="1"/>
              <p:nvPr/>
            </p:nvSpPr>
            <p:spPr>
              <a:xfrm>
                <a:off x="10199198" y="2674820"/>
                <a:ext cx="927970" cy="573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i="1" dirty="0">
                    <a:latin typeface="Cambria Math" panose="02040503050406030204" pitchFamily="18" charset="0"/>
                  </a:rPr>
                  <a:t>Machine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50" i="1" dirty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altLang="zh-CN" sz="1050" b="0" i="1" dirty="0" smtClean="0">
                          <a:latin typeface="Cambria Math" panose="02040503050406030204" pitchFamily="18" charset="0"/>
                        </a:rPr>
                        <m:t>icro</m:t>
                      </m:r>
                      <m:r>
                        <m:rPr>
                          <m:nor/>
                        </m:rPr>
                        <a:rPr lang="en-US" altLang="zh-CN" sz="105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 sz="1050" b="0" i="1" dirty="0" smtClean="0">
                          <a:latin typeface="Cambria Math" panose="02040503050406030204" pitchFamily="18" charset="0"/>
                        </a:rPr>
                        <m:t>stops</m:t>
                      </m:r>
                    </m:oMath>
                  </m:oMathPara>
                </a14:m>
                <a:endParaRPr lang="en-US" altLang="zh-CN" sz="105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1050" i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σ</m:t>
                    </m:r>
                    <m:r>
                      <m:rPr>
                        <m:nor/>
                      </m:rPr>
                      <a:rPr lang="en-US" altLang="zh-CN" sz="1050" b="0" i="0" baseline="-250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B</m:t>
                    </m:r>
                  </m:oMath>
                </a14:m>
                <a:r>
                  <a:rPr lang="en-US" altLang="zh-CN" sz="105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105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44C82A3-905A-4C26-152A-A0D31EC4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198" y="2674820"/>
                <a:ext cx="927970" cy="5733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F1255E5D-A7D9-A991-967E-20886A173AB2}"/>
              </a:ext>
            </a:extLst>
          </p:cNvPr>
          <p:cNvCxnSpPr>
            <a:cxnSpLocks/>
            <a:endCxn id="120" idx="0"/>
          </p:cNvCxnSpPr>
          <p:nvPr/>
        </p:nvCxnSpPr>
        <p:spPr>
          <a:xfrm flipH="1">
            <a:off x="9680881" y="2457669"/>
            <a:ext cx="67214" cy="2171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B8297143-52E4-56BC-2765-29E279D5890A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10563909" y="2457669"/>
            <a:ext cx="99274" cy="2171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46A558D-684B-C9A4-932E-F095948DD38B}"/>
              </a:ext>
            </a:extLst>
          </p:cNvPr>
          <p:cNvCxnSpPr>
            <a:cxnSpLocks/>
            <a:stCxn id="117" idx="0"/>
          </p:cNvCxnSpPr>
          <p:nvPr/>
        </p:nvCxnSpPr>
        <p:spPr>
          <a:xfrm flipV="1">
            <a:off x="7545275" y="2406665"/>
            <a:ext cx="52797" cy="325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6A7E90FB-8E6B-B0E4-F528-2FD22309582B}"/>
              </a:ext>
            </a:extLst>
          </p:cNvPr>
          <p:cNvCxnSpPr>
            <a:cxnSpLocks/>
            <a:stCxn id="119" idx="0"/>
          </p:cNvCxnSpPr>
          <p:nvPr/>
        </p:nvCxnSpPr>
        <p:spPr>
          <a:xfrm flipV="1">
            <a:off x="8520789" y="2457669"/>
            <a:ext cx="0" cy="2830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左大括号 1031">
            <a:extLst>
              <a:ext uri="{FF2B5EF4-FFF2-40B4-BE49-F238E27FC236}">
                <a16:creationId xmlns:a16="http://schemas.microsoft.com/office/drawing/2014/main" id="{6F8825A4-94B5-F529-C686-677FBF90C6FD}"/>
              </a:ext>
            </a:extLst>
          </p:cNvPr>
          <p:cNvSpPr/>
          <p:nvPr/>
        </p:nvSpPr>
        <p:spPr>
          <a:xfrm>
            <a:off x="6620328" y="4040417"/>
            <a:ext cx="213851" cy="216798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3" name="文本框 1032">
            <a:extLst>
              <a:ext uri="{FF2B5EF4-FFF2-40B4-BE49-F238E27FC236}">
                <a16:creationId xmlns:a16="http://schemas.microsoft.com/office/drawing/2014/main" id="{6A5530F9-ED64-564E-2A45-38819B32F7C7}"/>
              </a:ext>
            </a:extLst>
          </p:cNvPr>
          <p:cNvSpPr txBox="1"/>
          <p:nvPr/>
        </p:nvSpPr>
        <p:spPr>
          <a:xfrm rot="16200000">
            <a:off x="5765025" y="5001713"/>
            <a:ext cx="131508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8-Hour Shift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6" name="矩形 1035">
            <a:extLst>
              <a:ext uri="{FF2B5EF4-FFF2-40B4-BE49-F238E27FC236}">
                <a16:creationId xmlns:a16="http://schemas.microsoft.com/office/drawing/2014/main" id="{44DB455E-95CE-A4F9-26AB-E4ED599B856D}"/>
              </a:ext>
            </a:extLst>
          </p:cNvPr>
          <p:cNvSpPr/>
          <p:nvPr/>
        </p:nvSpPr>
        <p:spPr>
          <a:xfrm>
            <a:off x="6894113" y="4037320"/>
            <a:ext cx="374353" cy="5410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34" name="矩形 1033">
            <a:extLst>
              <a:ext uri="{FF2B5EF4-FFF2-40B4-BE49-F238E27FC236}">
                <a16:creationId xmlns:a16="http://schemas.microsoft.com/office/drawing/2014/main" id="{9721C4DC-BDE2-B28A-F131-B4554BF2DE7D}"/>
              </a:ext>
            </a:extLst>
          </p:cNvPr>
          <p:cNvSpPr/>
          <p:nvPr/>
        </p:nvSpPr>
        <p:spPr>
          <a:xfrm>
            <a:off x="6918324" y="4040417"/>
            <a:ext cx="325932" cy="17893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35" name="矩形 1034">
            <a:extLst>
              <a:ext uri="{FF2B5EF4-FFF2-40B4-BE49-F238E27FC236}">
                <a16:creationId xmlns:a16="http://schemas.microsoft.com/office/drawing/2014/main" id="{D0796EEF-67EF-A0BB-9008-82ACB848A02B}"/>
              </a:ext>
            </a:extLst>
          </p:cNvPr>
          <p:cNvSpPr/>
          <p:nvPr/>
        </p:nvSpPr>
        <p:spPr>
          <a:xfrm>
            <a:off x="6918324" y="4225930"/>
            <a:ext cx="325932" cy="17893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49" name="矩形 1048">
            <a:extLst>
              <a:ext uri="{FF2B5EF4-FFF2-40B4-BE49-F238E27FC236}">
                <a16:creationId xmlns:a16="http://schemas.microsoft.com/office/drawing/2014/main" id="{E0A492D0-CD58-A47D-90C1-E0C046BDCD17}"/>
              </a:ext>
            </a:extLst>
          </p:cNvPr>
          <p:cNvSpPr/>
          <p:nvPr/>
        </p:nvSpPr>
        <p:spPr>
          <a:xfrm>
            <a:off x="6894113" y="4581831"/>
            <a:ext cx="374353" cy="5410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0" name="矩形 1049">
            <a:extLst>
              <a:ext uri="{FF2B5EF4-FFF2-40B4-BE49-F238E27FC236}">
                <a16:creationId xmlns:a16="http://schemas.microsoft.com/office/drawing/2014/main" id="{97F40B3E-167A-8666-F00C-BBE626444970}"/>
              </a:ext>
            </a:extLst>
          </p:cNvPr>
          <p:cNvSpPr/>
          <p:nvPr/>
        </p:nvSpPr>
        <p:spPr>
          <a:xfrm>
            <a:off x="6918324" y="4584928"/>
            <a:ext cx="325932" cy="17893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1" name="矩形 1050">
            <a:extLst>
              <a:ext uri="{FF2B5EF4-FFF2-40B4-BE49-F238E27FC236}">
                <a16:creationId xmlns:a16="http://schemas.microsoft.com/office/drawing/2014/main" id="{B3CA8ACB-28AF-D6F9-0401-DA0B444B9DDD}"/>
              </a:ext>
            </a:extLst>
          </p:cNvPr>
          <p:cNvSpPr/>
          <p:nvPr/>
        </p:nvSpPr>
        <p:spPr>
          <a:xfrm>
            <a:off x="6918324" y="4770441"/>
            <a:ext cx="325932" cy="17893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9DBF239B-D969-F028-9666-DED1392F07F1}"/>
              </a:ext>
            </a:extLst>
          </p:cNvPr>
          <p:cNvSpPr/>
          <p:nvPr/>
        </p:nvSpPr>
        <p:spPr>
          <a:xfrm>
            <a:off x="6894113" y="5119764"/>
            <a:ext cx="374353" cy="5410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A99D5581-B182-C778-7C12-1FDB9BBBDA91}"/>
              </a:ext>
            </a:extLst>
          </p:cNvPr>
          <p:cNvSpPr/>
          <p:nvPr/>
        </p:nvSpPr>
        <p:spPr>
          <a:xfrm>
            <a:off x="6918324" y="5122861"/>
            <a:ext cx="325932" cy="17893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CF35642D-31BF-2D69-9575-7C5AB62DB020}"/>
              </a:ext>
            </a:extLst>
          </p:cNvPr>
          <p:cNvSpPr/>
          <p:nvPr/>
        </p:nvSpPr>
        <p:spPr>
          <a:xfrm>
            <a:off x="6918324" y="5308374"/>
            <a:ext cx="325932" cy="17893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1F8D2F21-B83D-C210-2EEC-85E33390BA73}"/>
              </a:ext>
            </a:extLst>
          </p:cNvPr>
          <p:cNvSpPr/>
          <p:nvPr/>
        </p:nvSpPr>
        <p:spPr>
          <a:xfrm>
            <a:off x="6894113" y="5667372"/>
            <a:ext cx="374353" cy="5410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99C3C02D-BB68-172C-7ACB-B72CCEC06965}"/>
              </a:ext>
            </a:extLst>
          </p:cNvPr>
          <p:cNvSpPr/>
          <p:nvPr/>
        </p:nvSpPr>
        <p:spPr>
          <a:xfrm>
            <a:off x="6918324" y="5670469"/>
            <a:ext cx="325932" cy="178935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7" name="矩形 1056">
            <a:extLst>
              <a:ext uri="{FF2B5EF4-FFF2-40B4-BE49-F238E27FC236}">
                <a16:creationId xmlns:a16="http://schemas.microsoft.com/office/drawing/2014/main" id="{C9FB85AF-6B4C-8144-6B58-F83117D4F408}"/>
              </a:ext>
            </a:extLst>
          </p:cNvPr>
          <p:cNvSpPr/>
          <p:nvPr/>
        </p:nvSpPr>
        <p:spPr>
          <a:xfrm>
            <a:off x="6918324" y="5855982"/>
            <a:ext cx="325932" cy="17893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1058" name="矩形 1057">
            <a:extLst>
              <a:ext uri="{FF2B5EF4-FFF2-40B4-BE49-F238E27FC236}">
                <a16:creationId xmlns:a16="http://schemas.microsoft.com/office/drawing/2014/main" id="{469BDB65-2AD9-4C53-EDDD-D082482317BB}"/>
              </a:ext>
            </a:extLst>
          </p:cNvPr>
          <p:cNvSpPr/>
          <p:nvPr/>
        </p:nvSpPr>
        <p:spPr>
          <a:xfrm>
            <a:off x="7640126" y="4004535"/>
            <a:ext cx="128905" cy="136792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9" name="文本框 1058">
            <a:extLst>
              <a:ext uri="{FF2B5EF4-FFF2-40B4-BE49-F238E27FC236}">
                <a16:creationId xmlns:a16="http://schemas.microsoft.com/office/drawing/2014/main" id="{25D85F2E-0F49-DBC4-85DE-08DBB44992E7}"/>
              </a:ext>
            </a:extLst>
          </p:cNvPr>
          <p:cNvSpPr txBox="1"/>
          <p:nvPr/>
        </p:nvSpPr>
        <p:spPr>
          <a:xfrm>
            <a:off x="7678758" y="3940272"/>
            <a:ext cx="7209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A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0" name="矩形 1059">
            <a:extLst>
              <a:ext uri="{FF2B5EF4-FFF2-40B4-BE49-F238E27FC236}">
                <a16:creationId xmlns:a16="http://schemas.microsoft.com/office/drawing/2014/main" id="{F7472D35-418E-B556-1731-1A0793529542}"/>
              </a:ext>
            </a:extLst>
          </p:cNvPr>
          <p:cNvSpPr/>
          <p:nvPr/>
        </p:nvSpPr>
        <p:spPr>
          <a:xfrm>
            <a:off x="7640126" y="4223953"/>
            <a:ext cx="128905" cy="136792"/>
          </a:xfrm>
          <a:prstGeom prst="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1" name="文本框 1060">
            <a:extLst>
              <a:ext uri="{FF2B5EF4-FFF2-40B4-BE49-F238E27FC236}">
                <a16:creationId xmlns:a16="http://schemas.microsoft.com/office/drawing/2014/main" id="{74A9A61A-49D0-852A-A13E-AAAE184738B9}"/>
              </a:ext>
            </a:extLst>
          </p:cNvPr>
          <p:cNvSpPr txBox="1"/>
          <p:nvPr/>
        </p:nvSpPr>
        <p:spPr>
          <a:xfrm>
            <a:off x="7646001" y="4160610"/>
            <a:ext cx="77111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 B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0BB727F6-0243-9853-9465-4052B1E28D8B}"/>
              </a:ext>
            </a:extLst>
          </p:cNvPr>
          <p:cNvSpPr/>
          <p:nvPr/>
        </p:nvSpPr>
        <p:spPr>
          <a:xfrm>
            <a:off x="7640126" y="4462114"/>
            <a:ext cx="128905" cy="136792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3" name="文本框 1062">
            <a:extLst>
              <a:ext uri="{FF2B5EF4-FFF2-40B4-BE49-F238E27FC236}">
                <a16:creationId xmlns:a16="http://schemas.microsoft.com/office/drawing/2014/main" id="{6B655471-FB6F-B6DF-1DBD-D6D2841EA8ED}"/>
              </a:ext>
            </a:extLst>
          </p:cNvPr>
          <p:cNvSpPr txBox="1"/>
          <p:nvPr/>
        </p:nvSpPr>
        <p:spPr>
          <a:xfrm>
            <a:off x="7659321" y="4382816"/>
            <a:ext cx="77111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K-set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83976002-5AF9-BA77-3FB9-0D3DE382EB0D}"/>
              </a:ext>
            </a:extLst>
          </p:cNvPr>
          <p:cNvSpPr txBox="1"/>
          <p:nvPr/>
        </p:nvSpPr>
        <p:spPr>
          <a:xfrm>
            <a:off x="8443757" y="4454467"/>
            <a:ext cx="33167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the size of the uncertainty set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job.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Compact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Enveloped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US" altLang="zh-C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balancing risk and cost, 	      found via the simulation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170F7-07C4-0BE6-FB53-94F610526DBF}"/>
              </a:ext>
            </a:extLst>
          </p:cNvPr>
          <p:cNvSpPr/>
          <p:nvPr/>
        </p:nvSpPr>
        <p:spPr>
          <a:xfrm>
            <a:off x="7274341" y="4037319"/>
            <a:ext cx="108061" cy="5410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1</a:t>
            </a:r>
            <a:endParaRPr lang="zh-CN" altLang="en-US" sz="7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23768C-7976-ADBE-34D3-81694CEB37FF}"/>
              </a:ext>
            </a:extLst>
          </p:cNvPr>
          <p:cNvSpPr/>
          <p:nvPr/>
        </p:nvSpPr>
        <p:spPr>
          <a:xfrm>
            <a:off x="7271152" y="4589393"/>
            <a:ext cx="108061" cy="5410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2</a:t>
            </a:r>
            <a:endParaRPr lang="zh-CN" altLang="en-US" sz="7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552190-2307-5703-5113-E0FA0217D820}"/>
              </a:ext>
            </a:extLst>
          </p:cNvPr>
          <p:cNvSpPr/>
          <p:nvPr/>
        </p:nvSpPr>
        <p:spPr>
          <a:xfrm>
            <a:off x="7274340" y="5115062"/>
            <a:ext cx="108061" cy="5410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3</a:t>
            </a:r>
            <a:endParaRPr lang="zh-CN" altLang="en-US" sz="7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AC31C1-C59E-07BB-C96F-9243E626EB23}"/>
              </a:ext>
            </a:extLst>
          </p:cNvPr>
          <p:cNvSpPr/>
          <p:nvPr/>
        </p:nvSpPr>
        <p:spPr>
          <a:xfrm>
            <a:off x="7272987" y="5662669"/>
            <a:ext cx="108061" cy="5410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4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163206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矩形: 圆角 1068">
            <a:extLst>
              <a:ext uri="{FF2B5EF4-FFF2-40B4-BE49-F238E27FC236}">
                <a16:creationId xmlns:a16="http://schemas.microsoft.com/office/drawing/2014/main" id="{601B1020-28FB-32CA-C72B-8DC76743CACC}"/>
              </a:ext>
            </a:extLst>
          </p:cNvPr>
          <p:cNvSpPr/>
          <p:nvPr/>
        </p:nvSpPr>
        <p:spPr>
          <a:xfrm>
            <a:off x="575823" y="962003"/>
            <a:ext cx="4286092" cy="1628793"/>
          </a:xfrm>
          <a:prstGeom prst="roundRect">
            <a:avLst>
              <a:gd name="adj" fmla="val 6848"/>
            </a:avLst>
          </a:prstGeom>
          <a:solidFill>
            <a:srgbClr val="E9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8" name="矩形: 圆角 1067">
            <a:extLst>
              <a:ext uri="{FF2B5EF4-FFF2-40B4-BE49-F238E27FC236}">
                <a16:creationId xmlns:a16="http://schemas.microsoft.com/office/drawing/2014/main" id="{1ECC18F8-03D3-3A68-1267-EB14DE67707E}"/>
              </a:ext>
            </a:extLst>
          </p:cNvPr>
          <p:cNvSpPr/>
          <p:nvPr/>
        </p:nvSpPr>
        <p:spPr>
          <a:xfrm>
            <a:off x="572353" y="2786396"/>
            <a:ext cx="4286092" cy="3366754"/>
          </a:xfrm>
          <a:prstGeom prst="roundRect">
            <a:avLst>
              <a:gd name="adj" fmla="val 6848"/>
            </a:avLst>
          </a:prstGeom>
          <a:solidFill>
            <a:srgbClr val="F4F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0" name="矩形: 圆角 1029">
            <a:extLst>
              <a:ext uri="{FF2B5EF4-FFF2-40B4-BE49-F238E27FC236}">
                <a16:creationId xmlns:a16="http://schemas.microsoft.com/office/drawing/2014/main" id="{8F442F9A-5EF3-F27A-3781-A2536D647051}"/>
              </a:ext>
            </a:extLst>
          </p:cNvPr>
          <p:cNvSpPr>
            <a:spLocks/>
          </p:cNvSpPr>
          <p:nvPr/>
        </p:nvSpPr>
        <p:spPr>
          <a:xfrm>
            <a:off x="4980602" y="997284"/>
            <a:ext cx="6349729" cy="5155866"/>
          </a:xfrm>
          <a:prstGeom prst="roundRect">
            <a:avLst>
              <a:gd name="adj" fmla="val 3484"/>
            </a:avLst>
          </a:prstGeom>
          <a:ln>
            <a:solidFill>
              <a:schemeClr val="dk1">
                <a:alpha val="30000"/>
              </a:schemeClr>
            </a:solidFill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FB4B8-9E22-76A4-FC68-E19D989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5987716" cy="419847"/>
          </a:xfrm>
        </p:spPr>
        <p:txBody>
          <a:bodyPr>
            <a:normAutofit fontScale="90000"/>
          </a:bodyPr>
          <a:lstStyle/>
          <a:p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Bin-Packing Formulation – Model Ingredients</a:t>
            </a:r>
            <a:endParaRPr kumimoji="1" lang="zh-CN" altLang="en-US" sz="25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DC7DD8-A0DF-0629-A65E-D8FBE4E2E976}"/>
              </a:ext>
            </a:extLst>
          </p:cNvPr>
          <p:cNvSpPr txBox="1">
            <a:spLocks/>
          </p:cNvSpPr>
          <p:nvPr/>
        </p:nvSpPr>
        <p:spPr>
          <a:xfrm>
            <a:off x="618091" y="965365"/>
            <a:ext cx="228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Sets and Indices</a:t>
            </a:r>
            <a:endParaRPr kumimoji="1" lang="zh-CN" altLang="en-US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2B7FCF-461C-027B-F66F-897B3F6931AE}"/>
              </a:ext>
            </a:extLst>
          </p:cNvPr>
          <p:cNvSpPr txBox="1">
            <a:spLocks/>
          </p:cNvSpPr>
          <p:nvPr/>
        </p:nvSpPr>
        <p:spPr>
          <a:xfrm>
            <a:off x="654048" y="2773364"/>
            <a:ext cx="228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Parameters</a:t>
            </a:r>
            <a:endParaRPr kumimoji="1" lang="zh-CN" altLang="en-US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4FBEF0-40E2-183D-1809-44219826D05A}"/>
              </a:ext>
            </a:extLst>
          </p:cNvPr>
          <p:cNvSpPr txBox="1">
            <a:spLocks/>
          </p:cNvSpPr>
          <p:nvPr/>
        </p:nvSpPr>
        <p:spPr>
          <a:xfrm>
            <a:off x="5049944" y="971429"/>
            <a:ext cx="2289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Decision Variables</a:t>
            </a:r>
            <a:endParaRPr kumimoji="1" lang="zh-CN" altLang="en-US" sz="16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D78F9970-E3E2-1D12-DFED-1E0B7EEDA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01" y="1779673"/>
            <a:ext cx="1900614" cy="25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BA9DB707-28BB-5779-FBCE-31CAF314BF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13" b="-15645"/>
          <a:stretch/>
        </p:blipFill>
        <p:spPr bwMode="auto">
          <a:xfrm>
            <a:off x="902836" y="5454476"/>
            <a:ext cx="500618" cy="28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>
            <a:extLst>
              <a:ext uri="{FF2B5EF4-FFF2-40B4-BE49-F238E27FC236}">
                <a16:creationId xmlns:a16="http://schemas.microsoft.com/office/drawing/2014/main" id="{D081BC83-50E8-0C6A-FB82-E3A602AAB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551" b="3086"/>
          <a:stretch/>
        </p:blipFill>
        <p:spPr bwMode="auto">
          <a:xfrm>
            <a:off x="874315" y="5520493"/>
            <a:ext cx="500617" cy="52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>
            <a:extLst>
              <a:ext uri="{FF2B5EF4-FFF2-40B4-BE49-F238E27FC236}">
                <a16:creationId xmlns:a16="http://schemas.microsoft.com/office/drawing/2014/main" id="{3B6A342C-483C-6783-B905-2407AB936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9" r="68673"/>
          <a:stretch/>
        </p:blipFill>
        <p:spPr bwMode="auto">
          <a:xfrm>
            <a:off x="861668" y="4790143"/>
            <a:ext cx="541786" cy="78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8">
            <a:extLst>
              <a:ext uri="{FF2B5EF4-FFF2-40B4-BE49-F238E27FC236}">
                <a16:creationId xmlns:a16="http://schemas.microsoft.com/office/drawing/2014/main" id="{E1312399-050E-620D-339B-A87AF563C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83"/>
          <a:stretch/>
        </p:blipFill>
        <p:spPr bwMode="auto">
          <a:xfrm>
            <a:off x="934315" y="4553436"/>
            <a:ext cx="469139" cy="78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E8D48242-73A5-4486-B946-31F66A7821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209" y="2162484"/>
            <a:ext cx="1930706" cy="270029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9C37CF4F-AFBF-B9C1-410D-8201A05D3D86}"/>
              </a:ext>
            </a:extLst>
          </p:cNvPr>
          <p:cNvSpPr txBox="1"/>
          <p:nvPr/>
        </p:nvSpPr>
        <p:spPr>
          <a:xfrm>
            <a:off x="2907380" y="1309983"/>
            <a:ext cx="1930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jobs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F52CA2E-E596-3CAD-F898-B4A361194CC4}"/>
              </a:ext>
            </a:extLst>
          </p:cNvPr>
          <p:cNvSpPr txBox="1"/>
          <p:nvPr/>
        </p:nvSpPr>
        <p:spPr>
          <a:xfrm>
            <a:off x="2907380" y="1710093"/>
            <a:ext cx="1930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bins/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A9F6B5A-F644-94FD-9D10-7040E0FF207F}"/>
              </a:ext>
            </a:extLst>
          </p:cNvPr>
          <p:cNvSpPr txBox="1"/>
          <p:nvPr/>
        </p:nvSpPr>
        <p:spPr>
          <a:xfrm>
            <a:off x="2907380" y="2088329"/>
            <a:ext cx="2026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 per day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图形 54">
            <a:extLst>
              <a:ext uri="{FF2B5EF4-FFF2-40B4-BE49-F238E27FC236}">
                <a16:creationId xmlns:a16="http://schemas.microsoft.com/office/drawing/2014/main" id="{C5D0B393-3EAF-ED14-03A6-DFCEF880C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4316" y="3249964"/>
            <a:ext cx="469140" cy="241678"/>
          </a:xfrm>
          <a:prstGeom prst="rect">
            <a:avLst/>
          </a:prstGeom>
        </p:spPr>
      </p:pic>
      <p:pic>
        <p:nvPicPr>
          <p:cNvPr id="57" name="图形 56">
            <a:extLst>
              <a:ext uri="{FF2B5EF4-FFF2-40B4-BE49-F238E27FC236}">
                <a16:creationId xmlns:a16="http://schemas.microsoft.com/office/drawing/2014/main" id="{300FD95A-96DA-2EF3-C54C-7A3FB568E0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316" y="3625687"/>
            <a:ext cx="172627" cy="241678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134B9394-C682-FF1E-53E3-8BAD80F473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2837" y="4036685"/>
            <a:ext cx="500619" cy="241678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B03C228F-8708-0CA9-77F1-FFB2D3CF83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2836" y="4433037"/>
            <a:ext cx="500619" cy="207153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1196CF39-F4B0-FA18-0C61-25BF43A5AE6B}"/>
              </a:ext>
            </a:extLst>
          </p:cNvPr>
          <p:cNvSpPr txBox="1"/>
          <p:nvPr/>
        </p:nvSpPr>
        <p:spPr>
          <a:xfrm>
            <a:off x="1553887" y="3188654"/>
            <a:ext cx="291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Capacity per bin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ED404E3-A340-C3C2-4F9B-EA1C5C730A34}"/>
              </a:ext>
            </a:extLst>
          </p:cNvPr>
          <p:cNvSpPr txBox="1"/>
          <p:nvPr/>
        </p:nvSpPr>
        <p:spPr>
          <a:xfrm>
            <a:off x="1568148" y="3572257"/>
            <a:ext cx="291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Factor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E12650CF-2C45-77D7-E72B-240DCD217F9A}"/>
              </a:ext>
            </a:extLst>
          </p:cNvPr>
          <p:cNvSpPr txBox="1"/>
          <p:nvPr/>
        </p:nvSpPr>
        <p:spPr>
          <a:xfrm>
            <a:off x="1571660" y="3942784"/>
            <a:ext cx="291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Overtime Cost/min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AC3EAEB2-E3A2-ADB7-C0B0-70EFC086E275}"/>
              </a:ext>
            </a:extLst>
          </p:cNvPr>
          <p:cNvSpPr txBox="1"/>
          <p:nvPr/>
        </p:nvSpPr>
        <p:spPr>
          <a:xfrm>
            <a:off x="1563411" y="4332838"/>
            <a:ext cx="291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Overtime Activation Cost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2362DF80-E59A-E6DE-A147-F4EED15A9647}"/>
              </a:ext>
            </a:extLst>
          </p:cNvPr>
          <p:cNvSpPr txBox="1"/>
          <p:nvPr/>
        </p:nvSpPr>
        <p:spPr>
          <a:xfrm>
            <a:off x="1587742" y="4763580"/>
            <a:ext cx="2919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Processing time of job at Station A/B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BDB5C7C0-DAE6-4A82-1318-F75D149CCF6D}"/>
              </a:ext>
            </a:extLst>
          </p:cNvPr>
          <p:cNvSpPr txBox="1"/>
          <p:nvPr/>
        </p:nvSpPr>
        <p:spPr>
          <a:xfrm>
            <a:off x="1571660" y="5538354"/>
            <a:ext cx="310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 from Station A/B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2F64099D-584D-EB7D-9B6D-14D9DCA1E41F}"/>
              </a:ext>
            </a:extLst>
          </p:cNvPr>
          <p:cNvSpPr/>
          <p:nvPr/>
        </p:nvSpPr>
        <p:spPr>
          <a:xfrm>
            <a:off x="8231371" y="3743338"/>
            <a:ext cx="1690919" cy="1961936"/>
          </a:xfrm>
          <a:prstGeom prst="roundRect">
            <a:avLst>
              <a:gd name="adj" fmla="val 6848"/>
            </a:avLst>
          </a:prstGeom>
          <a:solidFill>
            <a:srgbClr val="EF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4" name="矩形: 圆角 1043">
            <a:extLst>
              <a:ext uri="{FF2B5EF4-FFF2-40B4-BE49-F238E27FC236}">
                <a16:creationId xmlns:a16="http://schemas.microsoft.com/office/drawing/2014/main" id="{DFB5C57E-3DBB-29D3-4162-0886220826D1}"/>
              </a:ext>
            </a:extLst>
          </p:cNvPr>
          <p:cNvSpPr/>
          <p:nvPr/>
        </p:nvSpPr>
        <p:spPr>
          <a:xfrm>
            <a:off x="6128832" y="3748060"/>
            <a:ext cx="1756193" cy="1961936"/>
          </a:xfrm>
          <a:prstGeom prst="roundRect">
            <a:avLst>
              <a:gd name="adj" fmla="val 6848"/>
            </a:avLst>
          </a:prstGeom>
          <a:solidFill>
            <a:srgbClr val="F4F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5" name="矩形: 圆角 1044">
            <a:extLst>
              <a:ext uri="{FF2B5EF4-FFF2-40B4-BE49-F238E27FC236}">
                <a16:creationId xmlns:a16="http://schemas.microsoft.com/office/drawing/2014/main" id="{8CCC481A-FD21-EF2E-AC03-664F297BB759}"/>
              </a:ext>
            </a:extLst>
          </p:cNvPr>
          <p:cNvSpPr/>
          <p:nvPr/>
        </p:nvSpPr>
        <p:spPr>
          <a:xfrm>
            <a:off x="9209075" y="1421443"/>
            <a:ext cx="1756193" cy="1959352"/>
          </a:xfrm>
          <a:prstGeom prst="roundRect">
            <a:avLst>
              <a:gd name="adj" fmla="val 6848"/>
            </a:avLst>
          </a:prstGeom>
          <a:solidFill>
            <a:srgbClr val="E9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6" name="矩形: 圆角 1045">
            <a:extLst>
              <a:ext uri="{FF2B5EF4-FFF2-40B4-BE49-F238E27FC236}">
                <a16:creationId xmlns:a16="http://schemas.microsoft.com/office/drawing/2014/main" id="{08CE5A30-A1FF-C45D-CDEA-BC46C744F472}"/>
              </a:ext>
            </a:extLst>
          </p:cNvPr>
          <p:cNvSpPr/>
          <p:nvPr/>
        </p:nvSpPr>
        <p:spPr>
          <a:xfrm>
            <a:off x="7197078" y="1398431"/>
            <a:ext cx="1690919" cy="1959352"/>
          </a:xfrm>
          <a:prstGeom prst="roundRect">
            <a:avLst>
              <a:gd name="adj" fmla="val 6848"/>
            </a:avLst>
          </a:prstGeom>
          <a:solidFill>
            <a:srgbClr val="F2EE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7" name="矩形: 圆角 1046">
            <a:extLst>
              <a:ext uri="{FF2B5EF4-FFF2-40B4-BE49-F238E27FC236}">
                <a16:creationId xmlns:a16="http://schemas.microsoft.com/office/drawing/2014/main" id="{0C604B0C-C211-6E65-0335-ECCC775992CA}"/>
              </a:ext>
            </a:extLst>
          </p:cNvPr>
          <p:cNvSpPr/>
          <p:nvPr/>
        </p:nvSpPr>
        <p:spPr>
          <a:xfrm>
            <a:off x="5126905" y="1421443"/>
            <a:ext cx="1756193" cy="1959352"/>
          </a:xfrm>
          <a:prstGeom prst="roundRect">
            <a:avLst>
              <a:gd name="adj" fmla="val 6848"/>
            </a:avLst>
          </a:prstGeom>
          <a:solidFill>
            <a:srgbClr val="E9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33" name="图形 1032">
            <a:extLst>
              <a:ext uri="{FF2B5EF4-FFF2-40B4-BE49-F238E27FC236}">
                <a16:creationId xmlns:a16="http://schemas.microsoft.com/office/drawing/2014/main" id="{8B539C5F-09D3-D019-69BC-F7420E41689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44363" y="1480969"/>
            <a:ext cx="1328242" cy="276169"/>
          </a:xfrm>
          <a:prstGeom prst="rect">
            <a:avLst/>
          </a:prstGeom>
        </p:spPr>
      </p:pic>
      <p:pic>
        <p:nvPicPr>
          <p:cNvPr id="1035" name="图形 1034">
            <a:extLst>
              <a:ext uri="{FF2B5EF4-FFF2-40B4-BE49-F238E27FC236}">
                <a16:creationId xmlns:a16="http://schemas.microsoft.com/office/drawing/2014/main" id="{1EB021B3-522F-961E-E2C8-57AC39AAFF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25648" y="3913246"/>
            <a:ext cx="757408" cy="235914"/>
          </a:xfrm>
          <a:prstGeom prst="rect">
            <a:avLst/>
          </a:prstGeom>
        </p:spPr>
      </p:pic>
      <p:pic>
        <p:nvPicPr>
          <p:cNvPr id="1037" name="图形 1036">
            <a:extLst>
              <a:ext uri="{FF2B5EF4-FFF2-40B4-BE49-F238E27FC236}">
                <a16:creationId xmlns:a16="http://schemas.microsoft.com/office/drawing/2014/main" id="{B7F0EA1F-C25B-59CD-0590-B923E01245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35201" y="3923143"/>
            <a:ext cx="809474" cy="284026"/>
          </a:xfrm>
          <a:prstGeom prst="rect">
            <a:avLst/>
          </a:prstGeom>
        </p:spPr>
      </p:pic>
      <p:pic>
        <p:nvPicPr>
          <p:cNvPr id="1039" name="图形 1038">
            <a:extLst>
              <a:ext uri="{FF2B5EF4-FFF2-40B4-BE49-F238E27FC236}">
                <a16:creationId xmlns:a16="http://schemas.microsoft.com/office/drawing/2014/main" id="{B68EB210-0527-BAA3-E30B-9882373BF8E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485951" y="1537243"/>
            <a:ext cx="1168701" cy="271791"/>
          </a:xfrm>
          <a:prstGeom prst="rect">
            <a:avLst/>
          </a:prstGeom>
        </p:spPr>
      </p:pic>
      <p:pic>
        <p:nvPicPr>
          <p:cNvPr id="1041" name="图形 1040">
            <a:extLst>
              <a:ext uri="{FF2B5EF4-FFF2-40B4-BE49-F238E27FC236}">
                <a16:creationId xmlns:a16="http://schemas.microsoft.com/office/drawing/2014/main" id="{28801C61-F7C1-1599-323D-BD638075DFA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09370" y="1510809"/>
            <a:ext cx="866334" cy="271791"/>
          </a:xfrm>
          <a:prstGeom prst="rect">
            <a:avLst/>
          </a:prstGeom>
        </p:spPr>
      </p:pic>
      <p:sp>
        <p:nvSpPr>
          <p:cNvPr id="1049" name="文本框 1048">
            <a:extLst>
              <a:ext uri="{FF2B5EF4-FFF2-40B4-BE49-F238E27FC236}">
                <a16:creationId xmlns:a16="http://schemas.microsoft.com/office/drawing/2014/main" id="{D970B8DF-96DE-B245-AECA-721F9031F1FB}"/>
              </a:ext>
            </a:extLst>
          </p:cNvPr>
          <p:cNvSpPr txBox="1"/>
          <p:nvPr/>
        </p:nvSpPr>
        <p:spPr>
          <a:xfrm>
            <a:off x="5228954" y="1853302"/>
            <a:ext cx="1552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day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position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1" name="图片 1050">
            <a:extLst>
              <a:ext uri="{FF2B5EF4-FFF2-40B4-BE49-F238E27FC236}">
                <a16:creationId xmlns:a16="http://schemas.microsoft.com/office/drawing/2014/main" id="{00A1C525-947D-7D20-B4BE-9CB3F7BFC33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2061" b="4732"/>
          <a:stretch/>
        </p:blipFill>
        <p:spPr>
          <a:xfrm>
            <a:off x="5285293" y="2534241"/>
            <a:ext cx="1476581" cy="701458"/>
          </a:xfrm>
          <a:prstGeom prst="rect">
            <a:avLst/>
          </a:prstGeom>
        </p:spPr>
      </p:pic>
      <p:sp>
        <p:nvSpPr>
          <p:cNvPr id="1052" name="文本框 1051">
            <a:extLst>
              <a:ext uri="{FF2B5EF4-FFF2-40B4-BE49-F238E27FC236}">
                <a16:creationId xmlns:a16="http://schemas.microsoft.com/office/drawing/2014/main" id="{6A1F1AEC-4D32-4464-5E5D-153AD5E397EA}"/>
              </a:ext>
            </a:extLst>
          </p:cNvPr>
          <p:cNvSpPr txBox="1"/>
          <p:nvPr/>
        </p:nvSpPr>
        <p:spPr>
          <a:xfrm>
            <a:off x="7266490" y="1832520"/>
            <a:ext cx="1552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Overtime mins on day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6" name="图片 1055">
            <a:extLst>
              <a:ext uri="{FF2B5EF4-FFF2-40B4-BE49-F238E27FC236}">
                <a16:creationId xmlns:a16="http://schemas.microsoft.com/office/drawing/2014/main" id="{A2840071-802C-C547-8A2D-62B68945F6B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98944" y="2467215"/>
            <a:ext cx="866896" cy="685896"/>
          </a:xfrm>
          <a:prstGeom prst="rect">
            <a:avLst/>
          </a:prstGeom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E627ACB1-EBA0-6DF5-E7AB-B5A74A8556F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96565" y="2672857"/>
            <a:ext cx="981212" cy="504895"/>
          </a:xfrm>
          <a:prstGeom prst="rect">
            <a:avLst/>
          </a:prstGeom>
        </p:spPr>
      </p:pic>
      <p:sp>
        <p:nvSpPr>
          <p:cNvPr id="1059" name="文本框 1058">
            <a:extLst>
              <a:ext uri="{FF2B5EF4-FFF2-40B4-BE49-F238E27FC236}">
                <a16:creationId xmlns:a16="http://schemas.microsoft.com/office/drawing/2014/main" id="{86B28615-9BCA-E067-4C6C-EA54994C740B}"/>
              </a:ext>
            </a:extLst>
          </p:cNvPr>
          <p:cNvSpPr txBox="1"/>
          <p:nvPr/>
        </p:nvSpPr>
        <p:spPr>
          <a:xfrm>
            <a:off x="9284153" y="1858955"/>
            <a:ext cx="1632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Overtime activation indicator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0" name="文本框 1059">
            <a:extLst>
              <a:ext uri="{FF2B5EF4-FFF2-40B4-BE49-F238E27FC236}">
                <a16:creationId xmlns:a16="http://schemas.microsoft.com/office/drawing/2014/main" id="{B93F8C6F-2223-5F28-4BF6-A0BE056155A8}"/>
              </a:ext>
            </a:extLst>
          </p:cNvPr>
          <p:cNvSpPr txBox="1"/>
          <p:nvPr/>
        </p:nvSpPr>
        <p:spPr>
          <a:xfrm>
            <a:off x="6225095" y="4260309"/>
            <a:ext cx="1552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at position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day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2" name="图片 1061">
            <a:extLst>
              <a:ext uri="{FF2B5EF4-FFF2-40B4-BE49-F238E27FC236}">
                <a16:creationId xmlns:a16="http://schemas.microsoft.com/office/drawing/2014/main" id="{D409799F-41EF-0B68-1862-24BB8A82487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44065" y="5066958"/>
            <a:ext cx="571580" cy="562053"/>
          </a:xfrm>
          <a:prstGeom prst="rect">
            <a:avLst/>
          </a:prstGeom>
        </p:spPr>
      </p:pic>
      <p:sp>
        <p:nvSpPr>
          <p:cNvPr id="1065" name="文本框 1064">
            <a:extLst>
              <a:ext uri="{FF2B5EF4-FFF2-40B4-BE49-F238E27FC236}">
                <a16:creationId xmlns:a16="http://schemas.microsoft.com/office/drawing/2014/main" id="{E580A5A1-B06C-811E-B2F6-F1843EB520BB}"/>
              </a:ext>
            </a:extLst>
          </p:cNvPr>
          <p:cNvSpPr txBox="1"/>
          <p:nvPr/>
        </p:nvSpPr>
        <p:spPr>
          <a:xfrm>
            <a:off x="8288666" y="4279896"/>
            <a:ext cx="1552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 of position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day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8C5DA277-1667-682A-F246-17CD1D8126E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88448" y="5088943"/>
            <a:ext cx="552527" cy="504895"/>
          </a:xfrm>
          <a:prstGeom prst="rect">
            <a:avLst/>
          </a:prstGeom>
        </p:spPr>
      </p:pic>
      <p:pic>
        <p:nvPicPr>
          <p:cNvPr id="1075" name="图形 1074">
            <a:extLst>
              <a:ext uri="{FF2B5EF4-FFF2-40B4-BE49-F238E27FC236}">
                <a16:creationId xmlns:a16="http://schemas.microsoft.com/office/drawing/2014/main" id="{1AC30E84-13D6-818A-A5E0-AD2E7AAF443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1552" y="1396070"/>
            <a:ext cx="1930364" cy="2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28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885A3C0-8F01-3525-C65D-026E86C1F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0954" y="835975"/>
            <a:ext cx="11157462" cy="5510120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AC39A8-0BCE-C3D8-85C7-7F6E787E5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3584" y="2483049"/>
            <a:ext cx="10797758" cy="3734835"/>
          </a:xfrm>
          <a:prstGeom prst="roundRect">
            <a:avLst>
              <a:gd name="adj" fmla="val 34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FB4B8-9E22-76A4-FC68-E19D989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8533590" cy="419847"/>
          </a:xfrm>
        </p:spPr>
        <p:txBody>
          <a:bodyPr>
            <a:normAutofit/>
          </a:bodyPr>
          <a:lstStyle/>
          <a:p>
            <a:r>
              <a:rPr kumimoji="1" lang="en-US" altLang="zh-CN" sz="23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Bin-Packing Formulation</a:t>
            </a:r>
            <a:endParaRPr kumimoji="1" lang="zh-CN" altLang="en-US" sz="23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B198253-BF89-4544-1D02-1EB0DBB46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0806" y="1032984"/>
            <a:ext cx="10797758" cy="1351078"/>
          </a:xfrm>
          <a:prstGeom prst="roundRect">
            <a:avLst>
              <a:gd name="adj" fmla="val 348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DC7DD8-A0DF-0629-A65E-D8FBE4E2E9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1301" y="994954"/>
            <a:ext cx="2289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Objective Function</a:t>
            </a:r>
            <a:endParaRPr kumimoji="1" lang="zh-CN" altLang="en-US" sz="16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890592-7BCC-3D5A-8DCF-53CEB4F48037}"/>
              </a:ext>
            </a:extLst>
          </p:cNvPr>
          <p:cNvSpPr txBox="1"/>
          <p:nvPr/>
        </p:nvSpPr>
        <p:spPr>
          <a:xfrm>
            <a:off x="731301" y="2753264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(1) Full Assignment Constraint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BADDCDC-74E5-835F-A585-6F9431117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820" y="3092577"/>
            <a:ext cx="1827539" cy="44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F40C4E2-9CD0-8B8E-8272-AAA416C19413}"/>
              </a:ext>
            </a:extLst>
          </p:cNvPr>
          <p:cNvSpPr txBox="1"/>
          <p:nvPr/>
        </p:nvSpPr>
        <p:spPr>
          <a:xfrm>
            <a:off x="6314807" y="2753264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(5) Robust Daily Capacity Constraint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65A032F-25FB-15D9-EE05-C7027E40C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818" y="3120858"/>
            <a:ext cx="2605546" cy="44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E8FF970-FA8E-CAA2-1FA9-31F86774B8F1}"/>
              </a:ext>
            </a:extLst>
          </p:cNvPr>
          <p:cNvSpPr txBox="1"/>
          <p:nvPr/>
        </p:nvSpPr>
        <p:spPr>
          <a:xfrm>
            <a:off x="6314807" y="3698709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(6) Overtime Activation Logic (Big-M)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A715ED98-9F76-96A6-BD19-B3723495B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708" y="4103919"/>
            <a:ext cx="1831765" cy="19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ACF5711-92BF-8598-3969-E2215C6E4772}"/>
              </a:ext>
            </a:extLst>
          </p:cNvPr>
          <p:cNvSpPr txBox="1"/>
          <p:nvPr/>
        </p:nvSpPr>
        <p:spPr>
          <a:xfrm>
            <a:off x="6314807" y="4439188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(7) Binary &amp; Domain Constraints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12AD9A37-A47D-902A-884A-10E47004EB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9346" y="1353949"/>
            <a:ext cx="4473307" cy="55432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77A52E1-5D43-38C2-6643-9CA7EAE943E0}"/>
              </a:ext>
            </a:extLst>
          </p:cNvPr>
          <p:cNvSpPr txBox="1"/>
          <p:nvPr/>
        </p:nvSpPr>
        <p:spPr>
          <a:xfrm>
            <a:off x="731301" y="3560209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(2) Single Job per Slot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6CA390A-E3BC-3E93-6EB5-79EA6890C653}"/>
              </a:ext>
            </a:extLst>
          </p:cNvPr>
          <p:cNvCxnSpPr>
            <a:cxnSpLocks/>
          </p:cNvCxnSpPr>
          <p:nvPr/>
        </p:nvCxnSpPr>
        <p:spPr>
          <a:xfrm>
            <a:off x="6002463" y="2753264"/>
            <a:ext cx="7222" cy="3268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图形 26">
            <a:extLst>
              <a:ext uri="{FF2B5EF4-FFF2-40B4-BE49-F238E27FC236}">
                <a16:creationId xmlns:a16="http://schemas.microsoft.com/office/drawing/2014/main" id="{C67FE2DF-6AF3-A1C3-E226-6307F4FC79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21869" y="3897548"/>
            <a:ext cx="2200275" cy="428625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B1B2732-9FAB-C495-B674-47D77B6959D1}"/>
              </a:ext>
            </a:extLst>
          </p:cNvPr>
          <p:cNvSpPr txBox="1"/>
          <p:nvPr/>
        </p:nvSpPr>
        <p:spPr>
          <a:xfrm>
            <a:off x="731301" y="4403867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(3) Sequential Slot Filling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A45197BC-B168-2B96-D9D9-AD3FD57DD2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193" y="4776202"/>
            <a:ext cx="3857625" cy="428625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52DA126C-08CE-9E8F-5FC6-2EDFAE478C36}"/>
              </a:ext>
            </a:extLst>
          </p:cNvPr>
          <p:cNvSpPr txBox="1"/>
          <p:nvPr/>
        </p:nvSpPr>
        <p:spPr>
          <a:xfrm>
            <a:off x="732349" y="5279783"/>
            <a:ext cx="4781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(4) Sequential Slot Filling</a:t>
            </a:r>
            <a:endParaRPr kumimoji="1" lang="zh-CN" altLang="en-US" sz="12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EE9ED742-CBE2-2A0F-D1A0-3A6DE1ED59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17080" y="5576653"/>
            <a:ext cx="2609850" cy="428625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4575344A-52F4-7D59-C76C-5D9EBDBC74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90004" y="4852900"/>
            <a:ext cx="214312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FB4B8-9E22-76A4-FC68-E19D9892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84" y="209577"/>
            <a:ext cx="8533590" cy="419847"/>
          </a:xfrm>
        </p:spPr>
        <p:txBody>
          <a:bodyPr>
            <a:normAutofit fontScale="90000"/>
          </a:bodyPr>
          <a:lstStyle/>
          <a:p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Verification via </a:t>
            </a:r>
            <a:r>
              <a:rPr kumimoji="1" lang="en-US" altLang="zh-CN" sz="2500" b="1" dirty="0" err="1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Gurobi-SimPy</a:t>
            </a:r>
            <a:r>
              <a:rPr kumimoji="1" lang="en-US" altLang="zh-CN" sz="25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Integration</a:t>
            </a:r>
            <a:endParaRPr kumimoji="1" lang="zh-CN" altLang="en-US" sz="2500" b="1" dirty="0">
              <a:solidFill>
                <a:srgbClr val="00306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885A3C0-8F01-3525-C65D-026E86C1F81A}"/>
              </a:ext>
            </a:extLst>
          </p:cNvPr>
          <p:cNvSpPr>
            <a:spLocks/>
          </p:cNvSpPr>
          <p:nvPr/>
        </p:nvSpPr>
        <p:spPr>
          <a:xfrm>
            <a:off x="451184" y="842554"/>
            <a:ext cx="5468353" cy="5510120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9530106-9C86-546C-97F0-C039EAB2CD37}"/>
              </a:ext>
            </a:extLst>
          </p:cNvPr>
          <p:cNvSpPr txBox="1"/>
          <p:nvPr/>
        </p:nvSpPr>
        <p:spPr>
          <a:xfrm>
            <a:off x="583354" y="904013"/>
            <a:ext cx="511861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3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The Planner (</a:t>
            </a:r>
            <a:r>
              <a:rPr kumimoji="1" lang="en-US" altLang="zh-CN" sz="2300" b="1" dirty="0" err="1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Gurobi</a:t>
            </a:r>
            <a:r>
              <a:rPr kumimoji="1" lang="en-US" altLang="zh-CN" sz="23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Optimization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50CD03-08CE-38CD-3F3A-D2273C6CFADA}"/>
              </a:ext>
            </a:extLst>
          </p:cNvPr>
          <p:cNvSpPr/>
          <p:nvPr/>
        </p:nvSpPr>
        <p:spPr>
          <a:xfrm>
            <a:off x="6248369" y="871884"/>
            <a:ext cx="5468353" cy="5510120"/>
          </a:xfrm>
          <a:prstGeom prst="roundRect">
            <a:avLst>
              <a:gd name="adj" fmla="val 34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E77DF1-157E-7F00-9878-641A7BC913C8}"/>
              </a:ext>
            </a:extLst>
          </p:cNvPr>
          <p:cNvSpPr txBox="1"/>
          <p:nvPr/>
        </p:nvSpPr>
        <p:spPr>
          <a:xfrm>
            <a:off x="6423239" y="904013"/>
            <a:ext cx="511861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3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The Reality (</a:t>
            </a:r>
            <a:r>
              <a:rPr kumimoji="1" lang="en-US" altLang="zh-CN" sz="2300" b="1" dirty="0" err="1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SimPy</a:t>
            </a:r>
            <a:r>
              <a:rPr kumimoji="1" lang="en-US" altLang="zh-CN" sz="2300" b="1" dirty="0">
                <a:solidFill>
                  <a:srgbClr val="00306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Simulation</a:t>
            </a:r>
          </a:p>
        </p:txBody>
      </p:sp>
      <p:sp>
        <p:nvSpPr>
          <p:cNvPr id="7" name="箭头: 右弧形 6">
            <a:extLst>
              <a:ext uri="{FF2B5EF4-FFF2-40B4-BE49-F238E27FC236}">
                <a16:creationId xmlns:a16="http://schemas.microsoft.com/office/drawing/2014/main" id="{7F8CC1D1-4077-C0DB-BE35-B9B86B609F7B}"/>
              </a:ext>
            </a:extLst>
          </p:cNvPr>
          <p:cNvSpPr/>
          <p:nvPr/>
        </p:nvSpPr>
        <p:spPr>
          <a:xfrm rot="5400000">
            <a:off x="5718009" y="2600454"/>
            <a:ext cx="743456" cy="7450523"/>
          </a:xfrm>
          <a:prstGeom prst="curvedLef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E01E61E-F69C-70E9-92D7-1694B05D88A8}"/>
              </a:ext>
            </a:extLst>
          </p:cNvPr>
          <p:cNvSpPr/>
          <p:nvPr/>
        </p:nvSpPr>
        <p:spPr>
          <a:xfrm>
            <a:off x="5616614" y="3298018"/>
            <a:ext cx="934679" cy="35596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4" name="Picture 8" descr="Gurobi Optimization - Future Opportunities at Gurobi (Global Remote)">
            <a:extLst>
              <a:ext uri="{FF2B5EF4-FFF2-40B4-BE49-F238E27FC236}">
                <a16:creationId xmlns:a16="http://schemas.microsoft.com/office/drawing/2014/main" id="{449C4021-0DD3-A8C7-B277-E03E7525D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82" y="4513934"/>
            <a:ext cx="3184639" cy="167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图片 66" descr="图表, 折线图&#10;&#10;AI 生成的内容可能不正确。">
            <a:extLst>
              <a:ext uri="{FF2B5EF4-FFF2-40B4-BE49-F238E27FC236}">
                <a16:creationId xmlns:a16="http://schemas.microsoft.com/office/drawing/2014/main" id="{093EBC6A-658B-B2F0-5566-482201172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39" y="1640709"/>
            <a:ext cx="2782159" cy="1112864"/>
          </a:xfrm>
          <a:prstGeom prst="rect">
            <a:avLst/>
          </a:prstGeom>
        </p:spPr>
      </p:pic>
      <p:pic>
        <p:nvPicPr>
          <p:cNvPr id="70" name="图片 69" descr="图表, 条形图&#10;&#10;AI 生成的内容可能不正确。">
            <a:extLst>
              <a:ext uri="{FF2B5EF4-FFF2-40B4-BE49-F238E27FC236}">
                <a16:creationId xmlns:a16="http://schemas.microsoft.com/office/drawing/2014/main" id="{0157383D-3DF4-C617-B729-D17FC4506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38" y="1778857"/>
            <a:ext cx="4300523" cy="2580314"/>
          </a:xfrm>
          <a:prstGeom prst="rect">
            <a:avLst/>
          </a:prstGeom>
        </p:spPr>
      </p:pic>
      <p:pic>
        <p:nvPicPr>
          <p:cNvPr id="73" name="图片 72" descr="图表&#10;&#10;AI 生成的内容可能不正确。">
            <a:extLst>
              <a:ext uri="{FF2B5EF4-FFF2-40B4-BE49-F238E27FC236}">
                <a16:creationId xmlns:a16="http://schemas.microsoft.com/office/drawing/2014/main" id="{18B6CD82-A188-720E-03F7-A63BF435F9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658" y="2823317"/>
            <a:ext cx="3170193" cy="1268077"/>
          </a:xfrm>
          <a:prstGeom prst="rect">
            <a:avLst/>
          </a:prstGeom>
        </p:spPr>
      </p:pic>
      <p:pic>
        <p:nvPicPr>
          <p:cNvPr id="82" name="图片 81" descr="图表, 条形图&#10;&#10;AI 生成的内容可能不正确。">
            <a:extLst>
              <a:ext uri="{FF2B5EF4-FFF2-40B4-BE49-F238E27FC236}">
                <a16:creationId xmlns:a16="http://schemas.microsoft.com/office/drawing/2014/main" id="{8071B0E6-87E5-3ED4-4C4B-E44EC9FEC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472" y="4154428"/>
            <a:ext cx="2669692" cy="1334846"/>
          </a:xfrm>
          <a:prstGeom prst="rect">
            <a:avLst/>
          </a:prstGeom>
        </p:spPr>
      </p:pic>
      <p:pic>
        <p:nvPicPr>
          <p:cNvPr id="4112" name="Picture 16" descr="Overview — SimPy 4.1.2.dev8+g81c7218 documentation">
            <a:extLst>
              <a:ext uri="{FF2B5EF4-FFF2-40B4-BE49-F238E27FC236}">
                <a16:creationId xmlns:a16="http://schemas.microsoft.com/office/drawing/2014/main" id="{55102512-27F7-8C89-D7EF-94770FCEF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266" y="4978174"/>
            <a:ext cx="2036869" cy="74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49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044A44FD1C6F48BC8A356B3AAE2EF5" ma:contentTypeVersion="16" ma:contentTypeDescription="Create a new document." ma:contentTypeScope="" ma:versionID="5ca00d635b139cdd0448fed808852bdc">
  <xsd:schema xmlns:xsd="http://www.w3.org/2001/XMLSchema" xmlns:xs="http://www.w3.org/2001/XMLSchema" xmlns:p="http://schemas.microsoft.com/office/2006/metadata/properties" xmlns:ns3="b97ce6f0-ac89-4e9b-9451-f590cab0e00a" xmlns:ns4="77eb71e6-d05e-4a71-b773-2cbff5c41e14" targetNamespace="http://schemas.microsoft.com/office/2006/metadata/properties" ma:root="true" ma:fieldsID="11fe18a5e5fc3034a68123ab918cef9f" ns3:_="" ns4:_="">
    <xsd:import namespace="b97ce6f0-ac89-4e9b-9451-f590cab0e00a"/>
    <xsd:import namespace="77eb71e6-d05e-4a71-b773-2cbff5c41e1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ce6f0-ac89-4e9b-9451-f590cab0e0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eb71e6-d05e-4a71-b773-2cbff5c41e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eb71e6-d05e-4a71-b773-2cbff5c41e14" xsi:nil="true"/>
  </documentManagement>
</p:properties>
</file>

<file path=customXml/itemProps1.xml><?xml version="1.0" encoding="utf-8"?>
<ds:datastoreItem xmlns:ds="http://schemas.openxmlformats.org/officeDocument/2006/customXml" ds:itemID="{22B4D7C3-AFE0-4392-9091-705B63EA33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7ce6f0-ac89-4e9b-9451-f590cab0e00a"/>
    <ds:schemaRef ds:uri="77eb71e6-d05e-4a71-b773-2cbff5c41e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E67DD8-0C47-472C-8AFA-8C66525313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5BADB6-14FB-4662-9498-434A0AC7A4DF}">
  <ds:schemaRefs>
    <ds:schemaRef ds:uri="77eb71e6-d05e-4a71-b773-2cbff5c41e14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b97ce6f0-ac89-4e9b-9451-f590cab0e00a"/>
    <ds:schemaRef ds:uri="http://schemas.microsoft.com/office/infopath/2007/PartnerControl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510</Words>
  <Application>Microsoft Office PowerPoint</Application>
  <PresentationFormat>宽屏</PresentationFormat>
  <Paragraphs>146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Times New Roman</vt:lpstr>
      <vt:lpstr>Office 主题​​</vt:lpstr>
      <vt:lpstr>A Robust Bin-Packing Approach for ESS Assembly Line Scheduling under Human-Machine Uncertainty</vt:lpstr>
      <vt:lpstr>Problem Context &amp; Motivation</vt:lpstr>
      <vt:lpstr>Problem Context &amp; Motivation</vt:lpstr>
      <vt:lpstr>How can we create a schedule that is robust enough to absorb these  red spikes without creating gridlock?</vt:lpstr>
      <vt:lpstr>Mathematical Internalization &amp; Budgeting</vt:lpstr>
      <vt:lpstr>Bin-Packing Formulation – Model Ingredients</vt:lpstr>
      <vt:lpstr>Bin-Packing Formulation</vt:lpstr>
      <vt:lpstr>Verification via Gurobi-SimPy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Yanzhi Deng</dc:creator>
  <cp:lastModifiedBy>Yanzhi Deng</cp:lastModifiedBy>
  <cp:revision>2</cp:revision>
  <dcterms:created xsi:type="dcterms:W3CDTF">2026-03-02T18:32:10Z</dcterms:created>
  <dcterms:modified xsi:type="dcterms:W3CDTF">2026-03-09T22:37:19Z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0x0101007E044A44FD1C6F48BC8A356B3AAE2EF5</vt:lpwstr>
  </property>
</Properties>
</file>